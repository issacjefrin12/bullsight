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Shrikhand" charset="1" panose="02000000000000000000"/>
      <p:regular r:id="rId26"/>
    </p:embeddedFont>
    <p:embeddedFont>
      <p:font typeface="Arapey" charset="1" panose="02000000000000000000"/>
      <p:regular r:id="rId27"/>
    </p:embeddedFont>
    <p:embeddedFont>
      <p:font typeface="TT Hoves" charset="1" panose="02000003020000060003"/>
      <p:regular r:id="rId28"/>
    </p:embeddedFont>
    <p:embeddedFont>
      <p:font typeface="Gagalin" charset="1" panose="00000500000000000000"/>
      <p:regular r:id="rId29"/>
    </p:embeddedFont>
    <p:embeddedFont>
      <p:font typeface="TT Hoves Bold" charset="1" panose="02000003020000060003"/>
      <p:regular r:id="rId30"/>
    </p:embeddedFont>
    <p:embeddedFont>
      <p:font typeface="Lilita One" charset="1" panose="020000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28700" y="775505"/>
            <a:ext cx="16403946" cy="8735990"/>
            <a:chOff x="0" y="0"/>
            <a:chExt cx="4320381" cy="2300837"/>
          </a:xfrm>
        </p:grpSpPr>
        <p:sp>
          <p:nvSpPr>
            <p:cNvPr name="Freeform 4" id="4"/>
            <p:cNvSpPr/>
            <p:nvPr/>
          </p:nvSpPr>
          <p:spPr>
            <a:xfrm flipH="false" flipV="false" rot="0">
              <a:off x="0" y="0"/>
              <a:ext cx="4320381" cy="2300837"/>
            </a:xfrm>
            <a:custGeom>
              <a:avLst/>
              <a:gdLst/>
              <a:ahLst/>
              <a:cxnLst/>
              <a:rect r="r" b="b" t="t" l="l"/>
              <a:pathLst>
                <a:path h="2300837" w="4320381">
                  <a:moveTo>
                    <a:pt x="16990" y="0"/>
                  </a:moveTo>
                  <a:lnTo>
                    <a:pt x="4303390" y="0"/>
                  </a:lnTo>
                  <a:cubicBezTo>
                    <a:pt x="4312774" y="0"/>
                    <a:pt x="4320381" y="7607"/>
                    <a:pt x="4320381" y="16990"/>
                  </a:cubicBezTo>
                  <a:lnTo>
                    <a:pt x="4320381" y="2283846"/>
                  </a:lnTo>
                  <a:cubicBezTo>
                    <a:pt x="4320381" y="2288353"/>
                    <a:pt x="4318591" y="2292674"/>
                    <a:pt x="4315404" y="2295860"/>
                  </a:cubicBezTo>
                  <a:cubicBezTo>
                    <a:pt x="4312218" y="2299047"/>
                    <a:pt x="4307897" y="2300837"/>
                    <a:pt x="4303390" y="2300837"/>
                  </a:cubicBezTo>
                  <a:lnTo>
                    <a:pt x="16990" y="2300837"/>
                  </a:lnTo>
                  <a:cubicBezTo>
                    <a:pt x="7607" y="2300837"/>
                    <a:pt x="0" y="2293230"/>
                    <a:pt x="0" y="2283846"/>
                  </a:cubicBezTo>
                  <a:lnTo>
                    <a:pt x="0" y="16990"/>
                  </a:lnTo>
                  <a:cubicBezTo>
                    <a:pt x="0" y="12484"/>
                    <a:pt x="1790" y="8163"/>
                    <a:pt x="4976" y="4976"/>
                  </a:cubicBezTo>
                  <a:cubicBezTo>
                    <a:pt x="8163" y="1790"/>
                    <a:pt x="12484" y="0"/>
                    <a:pt x="16990" y="0"/>
                  </a:cubicBezTo>
                  <a:close/>
                </a:path>
              </a:pathLst>
            </a:custGeom>
            <a:gradFill rotWithShape="true">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name="TextBox 5" id="5"/>
            <p:cNvSpPr txBox="true"/>
            <p:nvPr/>
          </p:nvSpPr>
          <p:spPr>
            <a:xfrm>
              <a:off x="0" y="-47625"/>
              <a:ext cx="4320381" cy="234846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682907" y="7510729"/>
            <a:ext cx="627929" cy="627929"/>
          </a:xfrm>
          <a:custGeom>
            <a:avLst/>
            <a:gdLst/>
            <a:ahLst/>
            <a:cxnLst/>
            <a:rect r="r" b="b" t="t" l="l"/>
            <a:pathLst>
              <a:path h="627929" w="627929">
                <a:moveTo>
                  <a:pt x="0" y="0"/>
                </a:moveTo>
                <a:lnTo>
                  <a:pt x="627929" y="0"/>
                </a:lnTo>
                <a:lnTo>
                  <a:pt x="627929" y="627929"/>
                </a:lnTo>
                <a:lnTo>
                  <a:pt x="0" y="6279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7" id="7"/>
          <p:cNvSpPr/>
          <p:nvPr/>
        </p:nvSpPr>
        <p:spPr>
          <a:xfrm>
            <a:off x="1729504" y="3389758"/>
            <a:ext cx="9357743" cy="0"/>
          </a:xfrm>
          <a:prstGeom prst="line">
            <a:avLst/>
          </a:prstGeom>
          <a:ln cap="flat" w="104775">
            <a:gradFill>
              <a:gsLst>
                <a:gs pos="0">
                  <a:srgbClr val="A6A6A6">
                    <a:alpha val="100000"/>
                  </a:srgbClr>
                </a:gs>
                <a:gs pos="100000">
                  <a:srgbClr val="FFFFFF">
                    <a:alpha val="100000"/>
                  </a:srgbClr>
                </a:gs>
              </a:gsLst>
              <a:lin ang="0"/>
            </a:gradFill>
            <a:prstDash val="solid"/>
            <a:headEnd type="none" len="sm" w="sm"/>
            <a:tailEnd type="none" len="sm" w="sm"/>
          </a:ln>
        </p:spPr>
      </p:sp>
      <p:sp>
        <p:nvSpPr>
          <p:cNvPr name="Freeform 8" id="8"/>
          <p:cNvSpPr/>
          <p:nvPr/>
        </p:nvSpPr>
        <p:spPr>
          <a:xfrm flipH="false" flipV="false" rot="0">
            <a:off x="11087247" y="864166"/>
            <a:ext cx="3984646" cy="3984646"/>
          </a:xfrm>
          <a:custGeom>
            <a:avLst/>
            <a:gdLst/>
            <a:ahLst/>
            <a:cxnLst/>
            <a:rect r="r" b="b" t="t" l="l"/>
            <a:pathLst>
              <a:path h="3984646" w="3984646">
                <a:moveTo>
                  <a:pt x="0" y="0"/>
                </a:moveTo>
                <a:lnTo>
                  <a:pt x="3984646" y="0"/>
                </a:lnTo>
                <a:lnTo>
                  <a:pt x="3984646" y="3984646"/>
                </a:lnTo>
                <a:lnTo>
                  <a:pt x="0" y="3984646"/>
                </a:lnTo>
                <a:lnTo>
                  <a:pt x="0" y="0"/>
                </a:lnTo>
                <a:close/>
              </a:path>
            </a:pathLst>
          </a:custGeom>
          <a:blipFill>
            <a:blip r:embed="rId5"/>
            <a:stretch>
              <a:fillRect l="0" t="0" r="0" b="0"/>
            </a:stretch>
          </a:blipFill>
        </p:spPr>
      </p:sp>
      <p:sp>
        <p:nvSpPr>
          <p:cNvPr name="TextBox 9" id="9"/>
          <p:cNvSpPr txBox="true"/>
          <p:nvPr/>
        </p:nvSpPr>
        <p:spPr>
          <a:xfrm rot="0">
            <a:off x="1729504" y="1203530"/>
            <a:ext cx="9357743" cy="2082018"/>
          </a:xfrm>
          <a:prstGeom prst="rect">
            <a:avLst/>
          </a:prstGeom>
        </p:spPr>
        <p:txBody>
          <a:bodyPr anchor="t" rtlCol="false" tIns="0" lIns="0" bIns="0" rIns="0">
            <a:spAutoFit/>
          </a:bodyPr>
          <a:lstStyle/>
          <a:p>
            <a:pPr algn="l">
              <a:lnSpc>
                <a:spcPts val="17018"/>
              </a:lnSpc>
            </a:pPr>
            <a:r>
              <a:rPr lang="en-US" sz="12155">
                <a:gradFill>
                  <a:gsLst>
                    <a:gs pos="0">
                      <a:srgbClr val="0097B2">
                        <a:alpha val="100000"/>
                      </a:srgbClr>
                    </a:gs>
                    <a:gs pos="100000">
                      <a:srgbClr val="7ED957">
                        <a:alpha val="100000"/>
                      </a:srgbClr>
                    </a:gs>
                  </a:gsLst>
                  <a:lin ang="0"/>
                </a:gradFill>
                <a:latin typeface="Shrikhand"/>
                <a:ea typeface="Shrikhand"/>
                <a:cs typeface="Shrikhand"/>
                <a:sym typeface="Shrikhand"/>
              </a:rPr>
              <a:t>Bull Sight</a:t>
            </a:r>
          </a:p>
        </p:txBody>
      </p:sp>
      <p:sp>
        <p:nvSpPr>
          <p:cNvPr name="TextBox 10" id="10"/>
          <p:cNvSpPr txBox="true"/>
          <p:nvPr/>
        </p:nvSpPr>
        <p:spPr>
          <a:xfrm rot="0">
            <a:off x="1850847" y="3536315"/>
            <a:ext cx="9548243" cy="1607185"/>
          </a:xfrm>
          <a:prstGeom prst="rect">
            <a:avLst/>
          </a:prstGeom>
        </p:spPr>
        <p:txBody>
          <a:bodyPr anchor="t" rtlCol="false" tIns="0" lIns="0" bIns="0" rIns="0">
            <a:spAutoFit/>
          </a:bodyPr>
          <a:lstStyle/>
          <a:p>
            <a:pPr algn="just">
              <a:lnSpc>
                <a:spcPts val="6440"/>
              </a:lnSpc>
            </a:pPr>
            <a:r>
              <a:rPr lang="en-US" sz="4600">
                <a:gradFill>
                  <a:gsLst>
                    <a:gs pos="0">
                      <a:srgbClr val="89D957">
                        <a:alpha val="100000"/>
                      </a:srgbClr>
                    </a:gs>
                    <a:gs pos="100000">
                      <a:srgbClr val="C9E265">
                        <a:alpha val="100000"/>
                      </a:srgbClr>
                    </a:gs>
                  </a:gsLst>
                  <a:lin ang="0"/>
                </a:gradFill>
                <a:latin typeface="Arapey"/>
                <a:ea typeface="Arapey"/>
                <a:cs typeface="Arapey"/>
                <a:sym typeface="Arapey"/>
              </a:rPr>
              <a:t>AI-Powered Stock Market Prediction </a:t>
            </a:r>
          </a:p>
          <a:p>
            <a:pPr algn="just">
              <a:lnSpc>
                <a:spcPts val="6440"/>
              </a:lnSpc>
            </a:pPr>
            <a:r>
              <a:rPr lang="en-US" sz="4600">
                <a:gradFill>
                  <a:gsLst>
                    <a:gs pos="0">
                      <a:srgbClr val="89D957">
                        <a:alpha val="100000"/>
                      </a:srgbClr>
                    </a:gs>
                    <a:gs pos="100000">
                      <a:srgbClr val="C9E265">
                        <a:alpha val="100000"/>
                      </a:srgbClr>
                    </a:gs>
                  </a:gsLst>
                  <a:lin ang="0"/>
                </a:gradFill>
                <a:latin typeface="Arapey"/>
                <a:ea typeface="Arapey"/>
                <a:cs typeface="Arapey"/>
                <a:sym typeface="Arapey"/>
              </a:rPr>
              <a:t>&amp; Investment Analysis</a:t>
            </a:r>
          </a:p>
        </p:txBody>
      </p:sp>
      <p:sp>
        <p:nvSpPr>
          <p:cNvPr name="TextBox 11" id="11"/>
          <p:cNvSpPr txBox="true"/>
          <p:nvPr/>
        </p:nvSpPr>
        <p:spPr>
          <a:xfrm rot="0">
            <a:off x="1729504" y="5612857"/>
            <a:ext cx="6226850" cy="455295"/>
          </a:xfrm>
          <a:prstGeom prst="rect">
            <a:avLst/>
          </a:prstGeom>
        </p:spPr>
        <p:txBody>
          <a:bodyPr anchor="t" rtlCol="false" tIns="0" lIns="0" bIns="0" rIns="0">
            <a:spAutoFit/>
          </a:bodyPr>
          <a:lstStyle/>
          <a:p>
            <a:pPr algn="ctr">
              <a:lnSpc>
                <a:spcPts val="3779"/>
              </a:lnSpc>
              <a:spcBef>
                <a:spcPct val="0"/>
              </a:spcBef>
            </a:pPr>
            <a:r>
              <a:rPr lang="en-US" sz="2699" spc="70">
                <a:solidFill>
                  <a:srgbClr val="FFFFFF"/>
                </a:solidFill>
                <a:latin typeface="TT Hoves"/>
                <a:ea typeface="TT Hoves"/>
                <a:cs typeface="TT Hoves"/>
                <a:sym typeface="TT Hoves"/>
              </a:rPr>
              <a:t>“Predicting Tomorrow’s Market, Today.”</a:t>
            </a:r>
          </a:p>
        </p:txBody>
      </p:sp>
      <p:sp>
        <p:nvSpPr>
          <p:cNvPr name="TextBox 12" id="12"/>
          <p:cNvSpPr txBox="true"/>
          <p:nvPr/>
        </p:nvSpPr>
        <p:spPr>
          <a:xfrm rot="0">
            <a:off x="12595357" y="6144526"/>
            <a:ext cx="3881226" cy="3312710"/>
          </a:xfrm>
          <a:prstGeom prst="rect">
            <a:avLst/>
          </a:prstGeom>
        </p:spPr>
        <p:txBody>
          <a:bodyPr anchor="t" rtlCol="false" tIns="0" lIns="0" bIns="0" rIns="0">
            <a:spAutoFit/>
          </a:bodyPr>
          <a:lstStyle/>
          <a:p>
            <a:pPr algn="just">
              <a:lnSpc>
                <a:spcPts val="3784"/>
              </a:lnSpc>
            </a:pPr>
            <a:r>
              <a:rPr lang="en-US" sz="2703" spc="70">
                <a:gradFill>
                  <a:gsLst>
                    <a:gs pos="0">
                      <a:srgbClr val="000000">
                        <a:alpha val="100000"/>
                      </a:srgbClr>
                    </a:gs>
                    <a:gs pos="100000">
                      <a:srgbClr val="366A55">
                        <a:alpha val="100000"/>
                      </a:srgbClr>
                    </a:gs>
                  </a:gsLst>
                  <a:path path="circle">
                    <a:fillToRect l="0" r="100000" t="0" b="100000"/>
                  </a:path>
                  <a:tileRect r="0" l="-100000" b="0" t="-100000"/>
                </a:gradFill>
                <a:latin typeface="Gagalin"/>
                <a:ea typeface="Gagalin"/>
                <a:cs typeface="Gagalin"/>
                <a:sym typeface="Gagalin"/>
              </a:rPr>
              <a:t>By:-</a:t>
            </a:r>
          </a:p>
          <a:p>
            <a:pPr algn="just">
              <a:lnSpc>
                <a:spcPts val="3784"/>
              </a:lnSpc>
              <a:spcBef>
                <a:spcPct val="0"/>
              </a:spcBef>
            </a:pPr>
            <a:r>
              <a:rPr lang="en-US" sz="2703" spc="70">
                <a:gradFill>
                  <a:gsLst>
                    <a:gs pos="0">
                      <a:srgbClr val="000000">
                        <a:alpha val="100000"/>
                      </a:srgbClr>
                    </a:gs>
                    <a:gs pos="100000">
                      <a:srgbClr val="366A55">
                        <a:alpha val="100000"/>
                      </a:srgbClr>
                    </a:gs>
                  </a:gsLst>
                  <a:path path="circle">
                    <a:fillToRect l="0" r="100000" t="0" b="100000"/>
                  </a:path>
                  <a:tileRect r="0" l="-100000" b="0" t="-100000"/>
                </a:gradFill>
                <a:latin typeface="Gagalin"/>
                <a:ea typeface="Gagalin"/>
                <a:cs typeface="Gagalin"/>
                <a:sym typeface="Gagalin"/>
              </a:rPr>
              <a:t>Jef</a:t>
            </a:r>
            <a:r>
              <a:rPr lang="en-US" sz="2703" spc="70">
                <a:gradFill>
                  <a:gsLst>
                    <a:gs pos="0">
                      <a:srgbClr val="000000">
                        <a:alpha val="100000"/>
                      </a:srgbClr>
                    </a:gs>
                    <a:gs pos="100000">
                      <a:srgbClr val="366A55">
                        <a:alpha val="100000"/>
                      </a:srgbClr>
                    </a:gs>
                  </a:gsLst>
                  <a:path path="circle">
                    <a:fillToRect l="0" r="100000" t="0" b="100000"/>
                  </a:path>
                  <a:tileRect r="0" l="-100000" b="0" t="-100000"/>
                </a:gradFill>
                <a:latin typeface="Gagalin"/>
                <a:ea typeface="Gagalin"/>
                <a:cs typeface="Gagalin"/>
                <a:sym typeface="Gagalin"/>
              </a:rPr>
              <a:t>rin Issac - 44611068</a:t>
            </a:r>
          </a:p>
          <a:p>
            <a:pPr algn="just">
              <a:lnSpc>
                <a:spcPts val="3784"/>
              </a:lnSpc>
              <a:spcBef>
                <a:spcPct val="0"/>
              </a:spcBef>
            </a:pPr>
            <a:r>
              <a:rPr lang="en-US" sz="2703" spc="70">
                <a:gradFill>
                  <a:gsLst>
                    <a:gs pos="0">
                      <a:srgbClr val="000000">
                        <a:alpha val="100000"/>
                      </a:srgbClr>
                    </a:gs>
                    <a:gs pos="100000">
                      <a:srgbClr val="366A55">
                        <a:alpha val="100000"/>
                      </a:srgbClr>
                    </a:gs>
                  </a:gsLst>
                  <a:path path="circle">
                    <a:fillToRect l="0" r="100000" t="0" b="100000"/>
                  </a:path>
                  <a:tileRect r="0" l="-100000" b="0" t="-100000"/>
                </a:gradFill>
                <a:latin typeface="Gagalin"/>
                <a:ea typeface="Gagalin"/>
                <a:cs typeface="Gagalin"/>
                <a:sym typeface="Gagalin"/>
              </a:rPr>
              <a:t>Jeyakant M. - 44611070 </a:t>
            </a:r>
          </a:p>
          <a:p>
            <a:pPr algn="just">
              <a:lnSpc>
                <a:spcPts val="3784"/>
              </a:lnSpc>
              <a:spcBef>
                <a:spcPct val="0"/>
              </a:spcBef>
            </a:pPr>
            <a:r>
              <a:rPr lang="en-US" sz="2703" spc="70">
                <a:gradFill>
                  <a:gsLst>
                    <a:gs pos="0">
                      <a:srgbClr val="000000">
                        <a:alpha val="100000"/>
                      </a:srgbClr>
                    </a:gs>
                    <a:gs pos="100000">
                      <a:srgbClr val="366A55">
                        <a:alpha val="100000"/>
                      </a:srgbClr>
                    </a:gs>
                  </a:gsLst>
                  <a:path path="circle">
                    <a:fillToRect l="0" r="100000" t="0" b="100000"/>
                  </a:path>
                  <a:tileRect r="0" l="-100000" b="0" t="-100000"/>
                </a:gradFill>
                <a:latin typeface="Gagalin"/>
                <a:ea typeface="Gagalin"/>
                <a:cs typeface="Gagalin"/>
                <a:sym typeface="Gagalin"/>
              </a:rPr>
              <a:t>Harshath M.P.- 44611060</a:t>
            </a:r>
          </a:p>
          <a:p>
            <a:pPr algn="just">
              <a:lnSpc>
                <a:spcPts val="3784"/>
              </a:lnSpc>
              <a:spcBef>
                <a:spcPct val="0"/>
              </a:spcBef>
            </a:pPr>
            <a:r>
              <a:rPr lang="en-US" sz="2703" spc="70">
                <a:gradFill>
                  <a:gsLst>
                    <a:gs pos="0">
                      <a:srgbClr val="000000">
                        <a:alpha val="100000"/>
                      </a:srgbClr>
                    </a:gs>
                    <a:gs pos="100000">
                      <a:srgbClr val="366A55">
                        <a:alpha val="100000"/>
                      </a:srgbClr>
                    </a:gs>
                  </a:gsLst>
                  <a:path path="circle">
                    <a:fillToRect l="0" r="100000" t="0" b="100000"/>
                  </a:path>
                  <a:tileRect r="0" l="-100000" b="0" t="-100000"/>
                </a:gradFill>
                <a:latin typeface="Gagalin"/>
                <a:ea typeface="Gagalin"/>
                <a:cs typeface="Gagalin"/>
                <a:sym typeface="Gagalin"/>
              </a:rPr>
              <a:t>Harish S. - 44611057</a:t>
            </a:r>
          </a:p>
          <a:p>
            <a:pPr algn="just">
              <a:lnSpc>
                <a:spcPts val="3784"/>
              </a:lnSpc>
              <a:spcBef>
                <a:spcPct val="0"/>
              </a:spcBef>
            </a:pPr>
            <a:r>
              <a:rPr lang="en-US" sz="2703" spc="70">
                <a:gradFill>
                  <a:gsLst>
                    <a:gs pos="0">
                      <a:srgbClr val="000000">
                        <a:alpha val="100000"/>
                      </a:srgbClr>
                    </a:gs>
                    <a:gs pos="100000">
                      <a:srgbClr val="366A55">
                        <a:alpha val="100000"/>
                      </a:srgbClr>
                    </a:gs>
                  </a:gsLst>
                  <a:path path="circle">
                    <a:fillToRect l="0" r="100000" t="0" b="100000"/>
                  </a:path>
                  <a:tileRect r="0" l="-100000" b="0" t="-100000"/>
                </a:gradFill>
                <a:latin typeface="Gagalin"/>
                <a:ea typeface="Gagalin"/>
                <a:cs typeface="Gagalin"/>
                <a:sym typeface="Gagalin"/>
              </a:rPr>
              <a:t>Shyam E. - 44611052</a:t>
            </a:r>
          </a:p>
          <a:p>
            <a:pPr algn="just">
              <a:lnSpc>
                <a:spcPts val="3784"/>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grpSp>
        <p:nvGrpSpPr>
          <p:cNvPr name="Group 2" id="2"/>
          <p:cNvGrpSpPr/>
          <p:nvPr/>
        </p:nvGrpSpPr>
        <p:grpSpPr>
          <a:xfrm rot="0">
            <a:off x="0" y="-27760"/>
            <a:ext cx="8343913" cy="11375203"/>
            <a:chOff x="0" y="0"/>
            <a:chExt cx="2197574" cy="2995938"/>
          </a:xfrm>
        </p:grpSpPr>
        <p:sp>
          <p:nvSpPr>
            <p:cNvPr name="Freeform 3" id="3"/>
            <p:cNvSpPr/>
            <p:nvPr/>
          </p:nvSpPr>
          <p:spPr>
            <a:xfrm flipH="false" flipV="false" rot="0">
              <a:off x="0" y="0"/>
              <a:ext cx="2197574" cy="2995938"/>
            </a:xfrm>
            <a:custGeom>
              <a:avLst/>
              <a:gdLst/>
              <a:ahLst/>
              <a:cxnLst/>
              <a:rect r="r" b="b" t="t" l="l"/>
              <a:pathLst>
                <a:path h="2995938" w="2197574">
                  <a:moveTo>
                    <a:pt x="0" y="0"/>
                  </a:moveTo>
                  <a:lnTo>
                    <a:pt x="2197574" y="0"/>
                  </a:lnTo>
                  <a:lnTo>
                    <a:pt x="2197574" y="2995938"/>
                  </a:lnTo>
                  <a:lnTo>
                    <a:pt x="0" y="2995938"/>
                  </a:lnTo>
                  <a:close/>
                </a:path>
              </a:pathLst>
            </a:custGeom>
            <a:gradFill rotWithShape="true">
              <a:gsLst>
                <a:gs pos="0">
                  <a:srgbClr val="000000">
                    <a:alpha val="100000"/>
                  </a:srgbClr>
                </a:gs>
                <a:gs pos="100000">
                  <a:srgbClr val="33CD91">
                    <a:alpha val="100000"/>
                  </a:srgbClr>
                </a:gs>
              </a:gsLst>
              <a:lin ang="0"/>
            </a:gradFill>
          </p:spPr>
        </p:sp>
        <p:sp>
          <p:nvSpPr>
            <p:cNvPr name="TextBox 4" id="4"/>
            <p:cNvSpPr txBox="true"/>
            <p:nvPr/>
          </p:nvSpPr>
          <p:spPr>
            <a:xfrm>
              <a:off x="0" y="-47625"/>
              <a:ext cx="2197574" cy="3043563"/>
            </a:xfrm>
            <a:prstGeom prst="rect">
              <a:avLst/>
            </a:prstGeom>
          </p:spPr>
          <p:txBody>
            <a:bodyPr anchor="ctr" rtlCol="false" tIns="50800" lIns="50800" bIns="50800" rIns="50800"/>
            <a:lstStyle/>
            <a:p>
              <a:pPr algn="ctr">
                <a:lnSpc>
                  <a:spcPts val="2940"/>
                </a:lnSpc>
              </a:pPr>
            </a:p>
          </p:txBody>
        </p:sp>
      </p:grpSp>
      <p:grpSp>
        <p:nvGrpSpPr>
          <p:cNvPr name="Group 5" id="5"/>
          <p:cNvGrpSpPr>
            <a:grpSpLocks noChangeAspect="true"/>
          </p:cNvGrpSpPr>
          <p:nvPr/>
        </p:nvGrpSpPr>
        <p:grpSpPr>
          <a:xfrm rot="0">
            <a:off x="1163815" y="1255150"/>
            <a:ext cx="6016283" cy="11904250"/>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43488" t="0" r="-81159" b="0"/>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name="Freeform 15" id="15"/>
          <p:cNvSpPr/>
          <p:nvPr/>
        </p:nvSpPr>
        <p:spPr>
          <a:xfrm flipH="false" flipV="false" rot="1184394">
            <a:off x="14174609" y="3257549"/>
            <a:ext cx="8379362" cy="8089893"/>
          </a:xfrm>
          <a:custGeom>
            <a:avLst/>
            <a:gdLst/>
            <a:ahLst/>
            <a:cxnLst/>
            <a:rect r="r" b="b" t="t" l="l"/>
            <a:pathLst>
              <a:path h="8089893" w="8379362">
                <a:moveTo>
                  <a:pt x="0" y="0"/>
                </a:moveTo>
                <a:lnTo>
                  <a:pt x="8379362" y="0"/>
                </a:lnTo>
                <a:lnTo>
                  <a:pt x="8379362" y="8089893"/>
                </a:lnTo>
                <a:lnTo>
                  <a:pt x="0" y="80898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9512852" y="405980"/>
            <a:ext cx="7083553" cy="958215"/>
          </a:xfrm>
          <a:prstGeom prst="rect">
            <a:avLst/>
          </a:prstGeom>
        </p:spPr>
        <p:txBody>
          <a:bodyPr anchor="t" rtlCol="false" tIns="0" lIns="0" bIns="0" rIns="0">
            <a:spAutoFit/>
          </a:bodyPr>
          <a:lstStyle/>
          <a:p>
            <a:pPr algn="ctr">
              <a:lnSpc>
                <a:spcPts val="7679"/>
              </a:lnSpc>
            </a:pPr>
            <a:r>
              <a:rPr lang="en-US" sz="5999">
                <a:solidFill>
                  <a:srgbClr val="75FF82"/>
                </a:solidFill>
                <a:latin typeface="TT Hoves"/>
                <a:ea typeface="TT Hoves"/>
                <a:cs typeface="TT Hoves"/>
                <a:sym typeface="TT Hoves"/>
              </a:rPr>
              <a:t>Agenda</a:t>
            </a:r>
          </a:p>
        </p:txBody>
      </p:sp>
      <p:sp>
        <p:nvSpPr>
          <p:cNvPr name="TextBox 17" id="17"/>
          <p:cNvSpPr txBox="true"/>
          <p:nvPr/>
        </p:nvSpPr>
        <p:spPr>
          <a:xfrm rot="0">
            <a:off x="8581022" y="1413497"/>
            <a:ext cx="8947214" cy="7966328"/>
          </a:xfrm>
          <a:prstGeom prst="rect">
            <a:avLst/>
          </a:prstGeom>
        </p:spPr>
        <p:txBody>
          <a:bodyPr anchor="t" rtlCol="false" tIns="0" lIns="0" bIns="0" rIns="0">
            <a:spAutoFit/>
          </a:bodyPr>
          <a:lstStyle/>
          <a:p>
            <a:pPr algn="l" marL="572676" indent="-286338" lvl="1">
              <a:lnSpc>
                <a:spcPts val="3713"/>
              </a:lnSpc>
              <a:buFont typeface="Arial"/>
              <a:buChar char="•"/>
            </a:pPr>
            <a:r>
              <a:rPr lang="en-US" sz="2652">
                <a:solidFill>
                  <a:srgbClr val="FFFFFF"/>
                </a:solidFill>
                <a:latin typeface="TT Hoves"/>
                <a:ea typeface="TT Hoves"/>
                <a:cs typeface="TT Hoves"/>
                <a:sym typeface="TT Hoves"/>
              </a:rPr>
              <a:t>Introduction</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Problem Statement</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Existing System</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Proposed System</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Working of the Proposed System</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Objectives</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Scope of the Project</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Dataset</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Data Preprocessing</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Data Flow</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Machine Learning Models</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System Architecture</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Methodology</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Tools &amp; Technologies</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Expected Results</a:t>
            </a:r>
          </a:p>
          <a:p>
            <a:pPr algn="l" marL="572676" indent="-286338" lvl="1">
              <a:lnSpc>
                <a:spcPts val="3713"/>
              </a:lnSpc>
              <a:buFont typeface="Arial"/>
              <a:buChar char="•"/>
            </a:pPr>
            <a:r>
              <a:rPr lang="en-US" sz="2652">
                <a:solidFill>
                  <a:srgbClr val="FFFFFF"/>
                </a:solidFill>
                <a:latin typeface="TT Hoves"/>
                <a:ea typeface="TT Hoves"/>
                <a:cs typeface="TT Hoves"/>
                <a:sym typeface="TT Hoves"/>
              </a:rPr>
              <a:t>Conclusion</a:t>
            </a:r>
          </a:p>
          <a:p>
            <a:pPr algn="l">
              <a:lnSpc>
                <a:spcPts val="3713"/>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9860150" y="1298618"/>
            <a:ext cx="8974243" cy="8180011"/>
          </a:xfrm>
          <a:prstGeom prst="rect">
            <a:avLst/>
          </a:prstGeom>
        </p:spPr>
      </p:pic>
      <p:sp>
        <p:nvSpPr>
          <p:cNvPr name="Freeform 3" id="3"/>
          <p:cNvSpPr/>
          <p:nvPr/>
        </p:nvSpPr>
        <p:spPr>
          <a:xfrm flipH="false" flipV="false" rot="0">
            <a:off x="1028700" y="8947089"/>
            <a:ext cx="6005824" cy="622422"/>
          </a:xfrm>
          <a:custGeom>
            <a:avLst/>
            <a:gdLst/>
            <a:ahLst/>
            <a:cxnLst/>
            <a:rect r="r" b="b" t="t" l="l"/>
            <a:pathLst>
              <a:path h="622422" w="6005824">
                <a:moveTo>
                  <a:pt x="0" y="0"/>
                </a:moveTo>
                <a:lnTo>
                  <a:pt x="6005824" y="0"/>
                </a:lnTo>
                <a:lnTo>
                  <a:pt x="6005824" y="622422"/>
                </a:lnTo>
                <a:lnTo>
                  <a:pt x="0" y="6224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585043"/>
            <a:ext cx="5630713"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Introduction</a:t>
            </a:r>
          </a:p>
        </p:txBody>
      </p:sp>
      <p:sp>
        <p:nvSpPr>
          <p:cNvPr name="TextBox 5" id="5"/>
          <p:cNvSpPr txBox="true"/>
          <p:nvPr/>
        </p:nvSpPr>
        <p:spPr>
          <a:xfrm rot="0">
            <a:off x="1028700" y="2065563"/>
            <a:ext cx="9579304" cy="6608023"/>
          </a:xfrm>
          <a:prstGeom prst="rect">
            <a:avLst/>
          </a:prstGeom>
        </p:spPr>
        <p:txBody>
          <a:bodyPr anchor="t" rtlCol="false" tIns="0" lIns="0" bIns="0" rIns="0">
            <a:spAutoFit/>
          </a:bodyPr>
          <a:lstStyle/>
          <a:p>
            <a:pPr algn="l">
              <a:lnSpc>
                <a:spcPts val="3278"/>
              </a:lnSpc>
            </a:pPr>
            <a:r>
              <a:rPr lang="en-US" sz="2341">
                <a:solidFill>
                  <a:srgbClr val="FFFFFF"/>
                </a:solidFill>
                <a:latin typeface="TT Hoves"/>
                <a:ea typeface="TT Hoves"/>
                <a:cs typeface="TT Hoves"/>
                <a:sym typeface="TT Hoves"/>
              </a:rPr>
              <a:t>The stock market plays a vital role in the global economy by enabling companies to raise capital and investors to grow their wealth. However, stock prices fluctuate continuously due to various factors such as market trends, economic conditions, company performance, and investor sentiment.</a:t>
            </a:r>
          </a:p>
          <a:p>
            <a:pPr algn="l">
              <a:lnSpc>
                <a:spcPts val="3278"/>
              </a:lnSpc>
            </a:pPr>
          </a:p>
          <a:p>
            <a:pPr algn="l">
              <a:lnSpc>
                <a:spcPts val="3278"/>
              </a:lnSpc>
            </a:pPr>
            <a:r>
              <a:rPr lang="en-US" sz="2341">
                <a:solidFill>
                  <a:srgbClr val="FFFFFF"/>
                </a:solidFill>
                <a:latin typeface="TT Hoves"/>
                <a:ea typeface="TT Hoves"/>
                <a:cs typeface="TT Hoves"/>
                <a:sym typeface="TT Hoves"/>
              </a:rPr>
              <a:t>Traditional methods of stock analysis require extensive knowledge and experience, making it difficult for many investors to make informed decisions.</a:t>
            </a:r>
          </a:p>
          <a:p>
            <a:pPr algn="l">
              <a:lnSpc>
                <a:spcPts val="3838"/>
              </a:lnSpc>
            </a:pPr>
          </a:p>
          <a:p>
            <a:pPr algn="l">
              <a:lnSpc>
                <a:spcPts val="3278"/>
              </a:lnSpc>
            </a:pPr>
            <a:r>
              <a:rPr lang="en-US" sz="2341">
                <a:solidFill>
                  <a:srgbClr val="FFFFFF"/>
                </a:solidFill>
                <a:latin typeface="TT Hoves"/>
                <a:ea typeface="TT Hoves"/>
                <a:cs typeface="TT Hoves"/>
                <a:sym typeface="TT Hoves"/>
              </a:rPr>
              <a:t>Bull Sight is an AI-powered stock market prediction system that uses historical stock data and Machine Learning algorithms to forecast future stock prices. By analyzing market trends and technical indicators, the system provides intelligent predictions and investment insights to support better decision-making.</a:t>
            </a:r>
          </a:p>
          <a:p>
            <a:pPr algn="l">
              <a:lnSpc>
                <a:spcPts val="3278"/>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13103633" y="2990851"/>
            <a:ext cx="4155667" cy="6384404"/>
          </a:xfrm>
          <a:custGeom>
            <a:avLst/>
            <a:gdLst/>
            <a:ahLst/>
            <a:cxnLst/>
            <a:rect r="r" b="b" t="t" l="l"/>
            <a:pathLst>
              <a:path h="6384404" w="4155667">
                <a:moveTo>
                  <a:pt x="0" y="0"/>
                </a:moveTo>
                <a:lnTo>
                  <a:pt x="4155667" y="0"/>
                </a:lnTo>
                <a:lnTo>
                  <a:pt x="4155667" y="6384404"/>
                </a:lnTo>
                <a:lnTo>
                  <a:pt x="0" y="6384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3824070" y="535171"/>
            <a:ext cx="4027231" cy="7968568"/>
            <a:chOff x="0" y="0"/>
            <a:chExt cx="2620010" cy="5184140"/>
          </a:xfrm>
        </p:grpSpPr>
        <p:sp>
          <p:nvSpPr>
            <p:cNvPr name="Freeform 4" id="4"/>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 id="5"/>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175888" t="0" r="-48760" b="0"/>
              </a:stretch>
            </a:blipFill>
          </p:spPr>
        </p:sp>
        <p:sp>
          <p:nvSpPr>
            <p:cNvPr name="Freeform 6" id="6"/>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7" id="7"/>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8" id="8"/>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9" id="9"/>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10" id="10"/>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11" id="11"/>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12" id="12"/>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name="TextBox 13" id="13"/>
          <p:cNvSpPr txBox="true"/>
          <p:nvPr/>
        </p:nvSpPr>
        <p:spPr>
          <a:xfrm rot="0">
            <a:off x="1028700" y="914400"/>
            <a:ext cx="7364173"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Problem Statement</a:t>
            </a:r>
          </a:p>
        </p:txBody>
      </p:sp>
      <p:sp>
        <p:nvSpPr>
          <p:cNvPr name="TextBox 14" id="14"/>
          <p:cNvSpPr txBox="true"/>
          <p:nvPr/>
        </p:nvSpPr>
        <p:spPr>
          <a:xfrm rot="0">
            <a:off x="1028700" y="2077289"/>
            <a:ext cx="11101124" cy="5694045"/>
          </a:xfrm>
          <a:prstGeom prst="rect">
            <a:avLst/>
          </a:prstGeom>
        </p:spPr>
        <p:txBody>
          <a:bodyPr anchor="t" rtlCol="false" tIns="0" lIns="0" bIns="0" rIns="0">
            <a:spAutoFit/>
          </a:bodyPr>
          <a:lstStyle/>
          <a:p>
            <a:pPr algn="l">
              <a:lnSpc>
                <a:spcPts val="3779"/>
              </a:lnSpc>
            </a:pPr>
            <a:r>
              <a:rPr lang="en-US" sz="2699">
                <a:solidFill>
                  <a:srgbClr val="FFFFFF"/>
                </a:solidFill>
                <a:latin typeface="TT Hoves"/>
                <a:ea typeface="TT Hoves"/>
                <a:cs typeface="TT Hoves"/>
                <a:sym typeface="TT Hoves"/>
              </a:rPr>
              <a:t>Predicting stock market prices is a complex task due to the dynamic and volatile nature of financial markets. Traditional prediction methods often rely on manual analysis, which is time-consuming and prone to errors. Investors need a reliable system that can analyze large volumes of historical market data and identify patterns to forecast future stock prices accurately.</a:t>
            </a:r>
          </a:p>
          <a:p>
            <a:pPr algn="l">
              <a:lnSpc>
                <a:spcPts val="3779"/>
              </a:lnSpc>
            </a:pPr>
          </a:p>
          <a:p>
            <a:pPr algn="l">
              <a:lnSpc>
                <a:spcPts val="3779"/>
              </a:lnSpc>
            </a:pPr>
            <a:r>
              <a:rPr lang="en-US" sz="2699">
                <a:solidFill>
                  <a:srgbClr val="FFFFFF"/>
                </a:solidFill>
                <a:latin typeface="TT Hoves"/>
                <a:ea typeface="TT Hoves"/>
                <a:cs typeface="TT Hoves"/>
                <a:sym typeface="TT Hoves"/>
              </a:rPr>
              <a:t>Bull Sight aims to address this challenge by leveraging Machine Learning techniques to analyze historical stock data, technical indicators, and market trends, providing accurate predictions and helping investors make informed investment decisions.</a:t>
            </a:r>
          </a:p>
          <a:p>
            <a:pPr algn="l">
              <a:lnSpc>
                <a:spcPts val="377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6397822"/>
            <a:ext cx="4491243" cy="1812829"/>
          </a:xfrm>
          <a:custGeom>
            <a:avLst/>
            <a:gdLst/>
            <a:ahLst/>
            <a:cxnLst/>
            <a:rect r="r" b="b" t="t" l="l"/>
            <a:pathLst>
              <a:path h="1812829" w="4491243">
                <a:moveTo>
                  <a:pt x="0" y="0"/>
                </a:moveTo>
                <a:lnTo>
                  <a:pt x="4491243" y="0"/>
                </a:lnTo>
                <a:lnTo>
                  <a:pt x="4491243" y="1812829"/>
                </a:lnTo>
                <a:lnTo>
                  <a:pt x="0" y="18128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489905"/>
            <a:ext cx="5469601" cy="904970"/>
          </a:xfrm>
          <a:custGeom>
            <a:avLst/>
            <a:gdLst/>
            <a:ahLst/>
            <a:cxnLst/>
            <a:rect r="r" b="b" t="t" l="l"/>
            <a:pathLst>
              <a:path h="904970" w="5469601">
                <a:moveTo>
                  <a:pt x="0" y="0"/>
                </a:moveTo>
                <a:lnTo>
                  <a:pt x="5469601" y="0"/>
                </a:lnTo>
                <a:lnTo>
                  <a:pt x="5469601" y="904970"/>
                </a:lnTo>
                <a:lnTo>
                  <a:pt x="0" y="9049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07067">
            <a:off x="14985558" y="-2789491"/>
            <a:ext cx="7042553" cy="7042553"/>
          </a:xfrm>
          <a:custGeom>
            <a:avLst/>
            <a:gdLst/>
            <a:ahLst/>
            <a:cxnLst/>
            <a:rect r="r" b="b" t="t" l="l"/>
            <a:pathLst>
              <a:path h="7042553" w="7042553">
                <a:moveTo>
                  <a:pt x="0" y="0"/>
                </a:moveTo>
                <a:lnTo>
                  <a:pt x="7042553" y="0"/>
                </a:lnTo>
                <a:lnTo>
                  <a:pt x="7042553" y="7042553"/>
                </a:lnTo>
                <a:lnTo>
                  <a:pt x="0" y="70425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617486"/>
            <a:ext cx="5469601"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Existing System</a:t>
            </a:r>
          </a:p>
        </p:txBody>
      </p:sp>
      <p:sp>
        <p:nvSpPr>
          <p:cNvPr name="TextBox 6" id="6"/>
          <p:cNvSpPr txBox="true"/>
          <p:nvPr/>
        </p:nvSpPr>
        <p:spPr>
          <a:xfrm rot="0">
            <a:off x="1028700" y="2189041"/>
            <a:ext cx="7089524" cy="3599180"/>
          </a:xfrm>
          <a:prstGeom prst="rect">
            <a:avLst/>
          </a:prstGeom>
        </p:spPr>
        <p:txBody>
          <a:bodyPr anchor="t" rtlCol="false" tIns="0" lIns="0" bIns="0" rIns="0">
            <a:spAutoFit/>
          </a:bodyPr>
          <a:lstStyle/>
          <a:p>
            <a:pPr algn="l">
              <a:lnSpc>
                <a:spcPts val="3219"/>
              </a:lnSpc>
            </a:pPr>
            <a:r>
              <a:rPr lang="en-US" sz="2299">
                <a:solidFill>
                  <a:srgbClr val="FFFFFF"/>
                </a:solidFill>
                <a:latin typeface="TT Hoves"/>
                <a:ea typeface="TT Hoves"/>
                <a:cs typeface="TT Hoves"/>
                <a:sym typeface="TT Hoves"/>
              </a:rPr>
              <a:t>Currently, stock market analysis is primarily performed using traditional methods such as Technical Analysis, Fundamental Analysis, and manual market observation. Investors often rely on historical price charts, company financial reports, market news, and expert opinions to make investment decisions. While these approaches provide valuable insights, they require significant expertise and may not always produce accurate predictions due to rapidly changing market conditions.</a:t>
            </a:r>
          </a:p>
        </p:txBody>
      </p:sp>
      <p:sp>
        <p:nvSpPr>
          <p:cNvPr name="TextBox 7" id="7"/>
          <p:cNvSpPr txBox="true"/>
          <p:nvPr/>
        </p:nvSpPr>
        <p:spPr>
          <a:xfrm rot="0">
            <a:off x="8642099" y="4434037"/>
            <a:ext cx="3953358" cy="259461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TT Hoves"/>
                <a:ea typeface="TT Hoves"/>
                <a:cs typeface="TT Hoves"/>
                <a:sym typeface="TT Hoves"/>
              </a:rPr>
              <a:t>Studies historical price movements and trading volumes.</a:t>
            </a:r>
          </a:p>
          <a:p>
            <a:pPr algn="l" marL="453390" indent="-226695" lvl="1">
              <a:lnSpc>
                <a:spcPts val="2940"/>
              </a:lnSpc>
              <a:buFont typeface="Arial"/>
              <a:buChar char="•"/>
            </a:pPr>
            <a:r>
              <a:rPr lang="en-US" sz="2100">
                <a:solidFill>
                  <a:srgbClr val="FFFFFF"/>
                </a:solidFill>
                <a:latin typeface="TT Hoves"/>
                <a:ea typeface="TT Hoves"/>
                <a:cs typeface="TT Hoves"/>
                <a:sym typeface="TT Hoves"/>
              </a:rPr>
              <a:t>Uses indicators like Moving Average (MA), RSI, and MACD.</a:t>
            </a:r>
          </a:p>
          <a:p>
            <a:pPr algn="l">
              <a:lnSpc>
                <a:spcPts val="2940"/>
              </a:lnSpc>
            </a:pPr>
          </a:p>
        </p:txBody>
      </p:sp>
      <p:sp>
        <p:nvSpPr>
          <p:cNvPr name="TextBox 8" id="8"/>
          <p:cNvSpPr txBox="true"/>
          <p:nvPr/>
        </p:nvSpPr>
        <p:spPr>
          <a:xfrm rot="0">
            <a:off x="8642099" y="3891070"/>
            <a:ext cx="3953358"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Technical Analysis</a:t>
            </a:r>
          </a:p>
        </p:txBody>
      </p:sp>
      <p:sp>
        <p:nvSpPr>
          <p:cNvPr name="TextBox 9" id="9"/>
          <p:cNvSpPr txBox="true"/>
          <p:nvPr/>
        </p:nvSpPr>
        <p:spPr>
          <a:xfrm rot="0">
            <a:off x="13114742" y="4434037"/>
            <a:ext cx="3953358" cy="222313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TT Hoves"/>
                <a:ea typeface="TT Hoves"/>
                <a:cs typeface="TT Hoves"/>
                <a:sym typeface="TT Hoves"/>
              </a:rPr>
              <a:t>Evaluates a company's financial health.</a:t>
            </a:r>
          </a:p>
          <a:p>
            <a:pPr algn="l" marL="453390" indent="-226695" lvl="1">
              <a:lnSpc>
                <a:spcPts val="2940"/>
              </a:lnSpc>
              <a:buFont typeface="Arial"/>
              <a:buChar char="•"/>
            </a:pPr>
            <a:r>
              <a:rPr lang="en-US" sz="2100">
                <a:solidFill>
                  <a:srgbClr val="FFFFFF"/>
                </a:solidFill>
                <a:latin typeface="TT Hoves"/>
                <a:ea typeface="TT Hoves"/>
                <a:cs typeface="TT Hoves"/>
                <a:sym typeface="TT Hoves"/>
              </a:rPr>
              <a:t>Considers revenue, profit, assets, and market performance.</a:t>
            </a:r>
          </a:p>
          <a:p>
            <a:pPr algn="l">
              <a:lnSpc>
                <a:spcPts val="2940"/>
              </a:lnSpc>
            </a:pPr>
          </a:p>
        </p:txBody>
      </p:sp>
      <p:sp>
        <p:nvSpPr>
          <p:cNvPr name="TextBox 10" id="10"/>
          <p:cNvSpPr txBox="true"/>
          <p:nvPr/>
        </p:nvSpPr>
        <p:spPr>
          <a:xfrm rot="0">
            <a:off x="13114742" y="3891070"/>
            <a:ext cx="3953358"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Fundamental Analysis</a:t>
            </a:r>
          </a:p>
        </p:txBody>
      </p:sp>
      <p:sp>
        <p:nvSpPr>
          <p:cNvPr name="TextBox 11" id="11"/>
          <p:cNvSpPr txBox="true"/>
          <p:nvPr/>
        </p:nvSpPr>
        <p:spPr>
          <a:xfrm rot="0">
            <a:off x="8642099" y="7406640"/>
            <a:ext cx="3953358" cy="222313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TT Hoves"/>
                <a:ea typeface="TT Hoves"/>
                <a:cs typeface="TT Hoves"/>
                <a:sym typeface="TT Hoves"/>
              </a:rPr>
              <a:t>Relies on financial news, analyst reports, and market trends.</a:t>
            </a:r>
          </a:p>
          <a:p>
            <a:pPr algn="l" marL="453390" indent="-226695" lvl="1">
              <a:lnSpc>
                <a:spcPts val="2940"/>
              </a:lnSpc>
              <a:buFont typeface="Arial"/>
              <a:buChar char="•"/>
            </a:pPr>
            <a:r>
              <a:rPr lang="en-US" sz="2100">
                <a:solidFill>
                  <a:srgbClr val="FFFFFF"/>
                </a:solidFill>
                <a:latin typeface="TT Hoves"/>
                <a:ea typeface="TT Hoves"/>
                <a:cs typeface="TT Hoves"/>
                <a:sym typeface="TT Hoves"/>
              </a:rPr>
              <a:t>Predictions may vary based on individual opinions.</a:t>
            </a:r>
          </a:p>
          <a:p>
            <a:pPr algn="l">
              <a:lnSpc>
                <a:spcPts val="2940"/>
              </a:lnSpc>
            </a:pPr>
          </a:p>
        </p:txBody>
      </p:sp>
      <p:sp>
        <p:nvSpPr>
          <p:cNvPr name="TextBox 12" id="12"/>
          <p:cNvSpPr txBox="true"/>
          <p:nvPr/>
        </p:nvSpPr>
        <p:spPr>
          <a:xfrm rot="0">
            <a:off x="8642099" y="6863673"/>
            <a:ext cx="3953358"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News &amp; Expert Analysis</a:t>
            </a:r>
          </a:p>
        </p:txBody>
      </p:sp>
      <p:sp>
        <p:nvSpPr>
          <p:cNvPr name="TextBox 13" id="13"/>
          <p:cNvSpPr txBox="true"/>
          <p:nvPr/>
        </p:nvSpPr>
        <p:spPr>
          <a:xfrm rot="0">
            <a:off x="13114742" y="7406640"/>
            <a:ext cx="4144558" cy="259461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TT Hoves"/>
                <a:ea typeface="TT Hoves"/>
                <a:cs typeface="TT Hoves"/>
                <a:sym typeface="TT Hoves"/>
              </a:rPr>
              <a:t>Time-consuming and requires expert knowledge.</a:t>
            </a:r>
          </a:p>
          <a:p>
            <a:pPr algn="l" marL="453390" indent="-226695" lvl="1">
              <a:lnSpc>
                <a:spcPts val="2940"/>
              </a:lnSpc>
              <a:buFont typeface="Arial"/>
              <a:buChar char="•"/>
            </a:pPr>
            <a:r>
              <a:rPr lang="en-US" sz="2100">
                <a:solidFill>
                  <a:srgbClr val="FFFFFF"/>
                </a:solidFill>
                <a:latin typeface="TT Hoves"/>
                <a:ea typeface="TT Hoves"/>
                <a:cs typeface="TT Hoves"/>
                <a:sym typeface="TT Hoves"/>
              </a:rPr>
              <a:t>Prone to human errors and emotional bias.</a:t>
            </a:r>
          </a:p>
          <a:p>
            <a:pPr algn="l" marL="453390" indent="-226695" lvl="1">
              <a:lnSpc>
                <a:spcPts val="2940"/>
              </a:lnSpc>
              <a:buFont typeface="Arial"/>
              <a:buChar char="•"/>
            </a:pPr>
            <a:r>
              <a:rPr lang="en-US" sz="2100">
                <a:solidFill>
                  <a:srgbClr val="FFFFFF"/>
                </a:solidFill>
                <a:latin typeface="TT Hoves"/>
                <a:ea typeface="TT Hoves"/>
                <a:cs typeface="TT Hoves"/>
                <a:sym typeface="TT Hoves"/>
              </a:rPr>
              <a:t>Difficult to analyze large volumes of market data.</a:t>
            </a:r>
          </a:p>
          <a:p>
            <a:pPr algn="l">
              <a:lnSpc>
                <a:spcPts val="2940"/>
              </a:lnSpc>
            </a:pPr>
          </a:p>
        </p:txBody>
      </p:sp>
      <p:sp>
        <p:nvSpPr>
          <p:cNvPr name="TextBox 14" id="14"/>
          <p:cNvSpPr txBox="true"/>
          <p:nvPr/>
        </p:nvSpPr>
        <p:spPr>
          <a:xfrm rot="0">
            <a:off x="13114742" y="6863673"/>
            <a:ext cx="3953358"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Limitations of Existing System</a:t>
            </a:r>
          </a:p>
        </p:txBody>
      </p:sp>
      <p:sp>
        <p:nvSpPr>
          <p:cNvPr name="TextBox 15" id="15"/>
          <p:cNvSpPr txBox="true"/>
          <p:nvPr/>
        </p:nvSpPr>
        <p:spPr>
          <a:xfrm rot="0">
            <a:off x="8642099" y="2466726"/>
            <a:ext cx="5368886" cy="481330"/>
          </a:xfrm>
          <a:prstGeom prst="rect">
            <a:avLst/>
          </a:prstGeom>
        </p:spPr>
        <p:txBody>
          <a:bodyPr anchor="t" rtlCol="false" tIns="0" lIns="0" bIns="0" rIns="0">
            <a:spAutoFit/>
          </a:bodyPr>
          <a:lstStyle/>
          <a:p>
            <a:pPr algn="ctr">
              <a:lnSpc>
                <a:spcPts val="3919"/>
              </a:lnSpc>
              <a:spcBef>
                <a:spcPct val="0"/>
              </a:spcBef>
            </a:pPr>
            <a:r>
              <a:rPr lang="en-US" sz="2799">
                <a:solidFill>
                  <a:srgbClr val="75FF82"/>
                </a:solidFill>
                <a:latin typeface="TT Hoves"/>
                <a:ea typeface="TT Hoves"/>
                <a:cs typeface="TT Hoves"/>
                <a:sym typeface="TT Hoves"/>
              </a:rPr>
              <a:t>Meth</a:t>
            </a:r>
            <a:r>
              <a:rPr lang="en-US" sz="2799">
                <a:solidFill>
                  <a:srgbClr val="75FF82"/>
                </a:solidFill>
                <a:latin typeface="TT Hoves"/>
                <a:ea typeface="TT Hoves"/>
                <a:cs typeface="TT Hoves"/>
                <a:sym typeface="TT Hoves"/>
              </a:rPr>
              <a:t>ods Used in Existing Systems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6397822"/>
            <a:ext cx="4491243" cy="1812829"/>
          </a:xfrm>
          <a:custGeom>
            <a:avLst/>
            <a:gdLst/>
            <a:ahLst/>
            <a:cxnLst/>
            <a:rect r="r" b="b" t="t" l="l"/>
            <a:pathLst>
              <a:path h="1812829" w="4491243">
                <a:moveTo>
                  <a:pt x="0" y="0"/>
                </a:moveTo>
                <a:lnTo>
                  <a:pt x="4491243" y="0"/>
                </a:lnTo>
                <a:lnTo>
                  <a:pt x="4491243" y="1812829"/>
                </a:lnTo>
                <a:lnTo>
                  <a:pt x="0" y="18128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489905"/>
            <a:ext cx="5469601" cy="904970"/>
          </a:xfrm>
          <a:custGeom>
            <a:avLst/>
            <a:gdLst/>
            <a:ahLst/>
            <a:cxnLst/>
            <a:rect r="r" b="b" t="t" l="l"/>
            <a:pathLst>
              <a:path h="904970" w="5469601">
                <a:moveTo>
                  <a:pt x="0" y="0"/>
                </a:moveTo>
                <a:lnTo>
                  <a:pt x="5469601" y="0"/>
                </a:lnTo>
                <a:lnTo>
                  <a:pt x="5469601" y="904970"/>
                </a:lnTo>
                <a:lnTo>
                  <a:pt x="0" y="9049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07067">
            <a:off x="14985558" y="-2789491"/>
            <a:ext cx="7042553" cy="7042553"/>
          </a:xfrm>
          <a:custGeom>
            <a:avLst/>
            <a:gdLst/>
            <a:ahLst/>
            <a:cxnLst/>
            <a:rect r="r" b="b" t="t" l="l"/>
            <a:pathLst>
              <a:path h="7042553" w="7042553">
                <a:moveTo>
                  <a:pt x="0" y="0"/>
                </a:moveTo>
                <a:lnTo>
                  <a:pt x="7042553" y="0"/>
                </a:lnTo>
                <a:lnTo>
                  <a:pt x="7042553" y="7042553"/>
                </a:lnTo>
                <a:lnTo>
                  <a:pt x="0" y="70425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617486"/>
            <a:ext cx="6162985"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Proposed System</a:t>
            </a:r>
          </a:p>
        </p:txBody>
      </p:sp>
      <p:sp>
        <p:nvSpPr>
          <p:cNvPr name="TextBox 6" id="6"/>
          <p:cNvSpPr txBox="true"/>
          <p:nvPr/>
        </p:nvSpPr>
        <p:spPr>
          <a:xfrm rot="0">
            <a:off x="1028700" y="2189041"/>
            <a:ext cx="7488220" cy="4399280"/>
          </a:xfrm>
          <a:prstGeom prst="rect">
            <a:avLst/>
          </a:prstGeom>
        </p:spPr>
        <p:txBody>
          <a:bodyPr anchor="t" rtlCol="false" tIns="0" lIns="0" bIns="0" rIns="0">
            <a:spAutoFit/>
          </a:bodyPr>
          <a:lstStyle/>
          <a:p>
            <a:pPr algn="l">
              <a:lnSpc>
                <a:spcPts val="3219"/>
              </a:lnSpc>
            </a:pPr>
            <a:r>
              <a:rPr lang="en-US" sz="2299">
                <a:solidFill>
                  <a:srgbClr val="FFFFFF"/>
                </a:solidFill>
                <a:latin typeface="TT Hoves"/>
                <a:ea typeface="TT Hoves"/>
                <a:cs typeface="TT Hoves"/>
                <a:sym typeface="TT Hoves"/>
              </a:rPr>
              <a:t>Bull Sight is an intelligent stock market prediction system that uses Machine Learning to analyze historical stock market data and forecast future stock prices. The system processes historical prices, technical indicators, and market trends to generate accurate predictions and assist investors in making informed investment decisions.</a:t>
            </a:r>
          </a:p>
          <a:p>
            <a:pPr algn="l">
              <a:lnSpc>
                <a:spcPts val="3219"/>
              </a:lnSpc>
            </a:pPr>
          </a:p>
          <a:p>
            <a:pPr algn="l">
              <a:lnSpc>
                <a:spcPts val="3219"/>
              </a:lnSpc>
            </a:pPr>
            <a:r>
              <a:rPr lang="en-US" sz="2299">
                <a:solidFill>
                  <a:srgbClr val="FFFFFF"/>
                </a:solidFill>
                <a:latin typeface="TT Hoves"/>
                <a:ea typeface="TT Hoves"/>
                <a:cs typeface="TT Hoves"/>
                <a:sym typeface="TT Hoves"/>
              </a:rPr>
              <a:t>Unlike traditional methods, Bull Sight automates data analysis, minimizes human effort, and provides real-time insights through an interactive dashboard.</a:t>
            </a:r>
          </a:p>
          <a:p>
            <a:pPr algn="l">
              <a:lnSpc>
                <a:spcPts val="3219"/>
              </a:lnSpc>
            </a:pPr>
          </a:p>
        </p:txBody>
      </p:sp>
      <p:sp>
        <p:nvSpPr>
          <p:cNvPr name="TextBox 7" id="7"/>
          <p:cNvSpPr txBox="true"/>
          <p:nvPr/>
        </p:nvSpPr>
        <p:spPr>
          <a:xfrm rot="0">
            <a:off x="8780776" y="4059387"/>
            <a:ext cx="3953358" cy="422275"/>
          </a:xfrm>
          <a:prstGeom prst="rect">
            <a:avLst/>
          </a:prstGeom>
        </p:spPr>
        <p:txBody>
          <a:bodyPr anchor="t" rtlCol="false" tIns="0" lIns="0" bIns="0" rIns="0">
            <a:spAutoFit/>
          </a:bodyPr>
          <a:lstStyle/>
          <a:p>
            <a:pPr algn="l">
              <a:lnSpc>
                <a:spcPts val="3499"/>
              </a:lnSpc>
            </a:pPr>
            <a:r>
              <a:rPr lang="en-US" sz="2499">
                <a:solidFill>
                  <a:srgbClr val="75FF82"/>
                </a:solidFill>
                <a:latin typeface="TT Hoves"/>
                <a:ea typeface="TT Hoves"/>
                <a:cs typeface="TT Hoves"/>
                <a:sym typeface="TT Hoves"/>
              </a:rPr>
              <a:t>Key Features</a:t>
            </a:r>
          </a:p>
        </p:txBody>
      </p:sp>
      <p:sp>
        <p:nvSpPr>
          <p:cNvPr name="TextBox 8" id="8"/>
          <p:cNvSpPr txBox="true"/>
          <p:nvPr/>
        </p:nvSpPr>
        <p:spPr>
          <a:xfrm rot="0">
            <a:off x="8780776" y="4684709"/>
            <a:ext cx="3953358" cy="5015865"/>
          </a:xfrm>
          <a:prstGeom prst="rect">
            <a:avLst/>
          </a:prstGeom>
        </p:spPr>
        <p:txBody>
          <a:bodyPr anchor="t" rtlCol="false" tIns="0" lIns="0" bIns="0" rIns="0">
            <a:spAutoFit/>
          </a:bodyPr>
          <a:lstStyle/>
          <a:p>
            <a:pPr algn="l" marL="518158" indent="-259079" lvl="1">
              <a:lnSpc>
                <a:spcPts val="3359"/>
              </a:lnSpc>
              <a:buFont typeface="Arial"/>
              <a:buChar char="•"/>
            </a:pPr>
            <a:r>
              <a:rPr lang="en-US" sz="2399">
                <a:solidFill>
                  <a:srgbClr val="FFFFFF"/>
                </a:solidFill>
                <a:latin typeface="TT Hoves"/>
                <a:ea typeface="TT Hoves"/>
                <a:cs typeface="TT Hoves"/>
                <a:sym typeface="TT Hoves"/>
              </a:rPr>
              <a:t>AI-powered stock price prediction.</a:t>
            </a:r>
          </a:p>
          <a:p>
            <a:pPr algn="l" marL="518158" indent="-259079" lvl="1">
              <a:lnSpc>
                <a:spcPts val="3359"/>
              </a:lnSpc>
              <a:buFont typeface="Arial"/>
              <a:buChar char="•"/>
            </a:pPr>
            <a:r>
              <a:rPr lang="en-US" sz="2399">
                <a:solidFill>
                  <a:srgbClr val="FFFFFF"/>
                </a:solidFill>
                <a:latin typeface="TT Hoves"/>
                <a:ea typeface="TT Hoves"/>
                <a:cs typeface="TT Hoves"/>
                <a:sym typeface="TT Hoves"/>
              </a:rPr>
              <a:t>Analysis of historical market trends and technical indicators.</a:t>
            </a:r>
          </a:p>
          <a:p>
            <a:pPr algn="l" marL="518158" indent="-259079" lvl="1">
              <a:lnSpc>
                <a:spcPts val="3359"/>
              </a:lnSpc>
              <a:buFont typeface="Arial"/>
              <a:buChar char="•"/>
            </a:pPr>
            <a:r>
              <a:rPr lang="en-US" sz="2399">
                <a:solidFill>
                  <a:srgbClr val="FFFFFF"/>
                </a:solidFill>
                <a:latin typeface="TT Hoves"/>
                <a:ea typeface="TT Hoves"/>
                <a:cs typeface="TT Hoves"/>
                <a:sym typeface="TT Hoves"/>
              </a:rPr>
              <a:t>Machine Learning models for accurate forecasting.</a:t>
            </a:r>
          </a:p>
          <a:p>
            <a:pPr algn="l" marL="518158" indent="-259079" lvl="1">
              <a:lnSpc>
                <a:spcPts val="3359"/>
              </a:lnSpc>
              <a:buFont typeface="Arial"/>
              <a:buChar char="•"/>
            </a:pPr>
            <a:r>
              <a:rPr lang="en-US" sz="2399">
                <a:solidFill>
                  <a:srgbClr val="FFFFFF"/>
                </a:solidFill>
                <a:latin typeface="TT Hoves"/>
                <a:ea typeface="TT Hoves"/>
                <a:cs typeface="TT Hoves"/>
                <a:sym typeface="TT Hoves"/>
              </a:rPr>
              <a:t>Interactive dashboard with graphical visualization.</a:t>
            </a:r>
          </a:p>
          <a:p>
            <a:pPr algn="l">
              <a:lnSpc>
                <a:spcPts val="3359"/>
              </a:lnSpc>
            </a:pPr>
          </a:p>
        </p:txBody>
      </p:sp>
      <p:sp>
        <p:nvSpPr>
          <p:cNvPr name="TextBox 9" id="9"/>
          <p:cNvSpPr txBox="true"/>
          <p:nvPr/>
        </p:nvSpPr>
        <p:spPr>
          <a:xfrm rot="0">
            <a:off x="13114742" y="4059387"/>
            <a:ext cx="5173258" cy="422275"/>
          </a:xfrm>
          <a:prstGeom prst="rect">
            <a:avLst/>
          </a:prstGeom>
        </p:spPr>
        <p:txBody>
          <a:bodyPr anchor="t" rtlCol="false" tIns="0" lIns="0" bIns="0" rIns="0">
            <a:spAutoFit/>
          </a:bodyPr>
          <a:lstStyle/>
          <a:p>
            <a:pPr algn="l">
              <a:lnSpc>
                <a:spcPts val="3499"/>
              </a:lnSpc>
            </a:pPr>
            <a:r>
              <a:rPr lang="en-US" sz="2499">
                <a:solidFill>
                  <a:srgbClr val="75FF82"/>
                </a:solidFill>
                <a:latin typeface="TT Hoves"/>
                <a:ea typeface="TT Hoves"/>
                <a:cs typeface="TT Hoves"/>
                <a:sym typeface="TT Hoves"/>
              </a:rPr>
              <a:t>Advantages Over Existing System</a:t>
            </a:r>
          </a:p>
        </p:txBody>
      </p:sp>
      <p:sp>
        <p:nvSpPr>
          <p:cNvPr name="TextBox 10" id="10"/>
          <p:cNvSpPr txBox="true"/>
          <p:nvPr/>
        </p:nvSpPr>
        <p:spPr>
          <a:xfrm rot="0">
            <a:off x="13114742" y="4684709"/>
            <a:ext cx="3953358" cy="4177665"/>
          </a:xfrm>
          <a:prstGeom prst="rect">
            <a:avLst/>
          </a:prstGeom>
        </p:spPr>
        <p:txBody>
          <a:bodyPr anchor="t" rtlCol="false" tIns="0" lIns="0" bIns="0" rIns="0">
            <a:spAutoFit/>
          </a:bodyPr>
          <a:lstStyle/>
          <a:p>
            <a:pPr algn="l" marL="518158" indent="-259079" lvl="1">
              <a:lnSpc>
                <a:spcPts val="3359"/>
              </a:lnSpc>
              <a:buFont typeface="Arial"/>
              <a:buChar char="•"/>
            </a:pPr>
            <a:r>
              <a:rPr lang="en-US" sz="2399">
                <a:solidFill>
                  <a:srgbClr val="FFFFFF"/>
                </a:solidFill>
                <a:latin typeface="TT Hoves"/>
                <a:ea typeface="TT Hoves"/>
                <a:cs typeface="TT Hoves"/>
                <a:sym typeface="TT Hoves"/>
              </a:rPr>
              <a:t>AI-powered automated analysis</a:t>
            </a:r>
          </a:p>
          <a:p>
            <a:pPr algn="l" marL="518158" indent="-259079" lvl="1">
              <a:lnSpc>
                <a:spcPts val="3359"/>
              </a:lnSpc>
              <a:buFont typeface="Arial"/>
              <a:buChar char="•"/>
            </a:pPr>
            <a:r>
              <a:rPr lang="en-US" sz="2399">
                <a:solidFill>
                  <a:srgbClr val="FFFFFF"/>
                </a:solidFill>
                <a:latin typeface="TT Hoves"/>
                <a:ea typeface="TT Hoves"/>
                <a:cs typeface="TT Hoves"/>
                <a:sym typeface="TT Hoves"/>
              </a:rPr>
              <a:t>Fast and efficient</a:t>
            </a:r>
          </a:p>
          <a:p>
            <a:pPr algn="l" marL="518158" indent="-259079" lvl="1">
              <a:lnSpc>
                <a:spcPts val="3359"/>
              </a:lnSpc>
              <a:buFont typeface="Arial"/>
              <a:buChar char="•"/>
            </a:pPr>
            <a:r>
              <a:rPr lang="en-US" sz="2399">
                <a:solidFill>
                  <a:srgbClr val="FFFFFF"/>
                </a:solidFill>
                <a:latin typeface="TT Hoves"/>
                <a:ea typeface="TT Hoves"/>
                <a:cs typeface="TT Hoves"/>
                <a:sym typeface="TT Hoves"/>
              </a:rPr>
              <a:t>Improved prediction accuracy</a:t>
            </a:r>
          </a:p>
          <a:p>
            <a:pPr algn="l" marL="518158" indent="-259079" lvl="1">
              <a:lnSpc>
                <a:spcPts val="3359"/>
              </a:lnSpc>
              <a:buFont typeface="Arial"/>
              <a:buChar char="•"/>
            </a:pPr>
            <a:r>
              <a:rPr lang="en-US" sz="2399">
                <a:solidFill>
                  <a:srgbClr val="FFFFFF"/>
                </a:solidFill>
                <a:latin typeface="TT Hoves"/>
                <a:ea typeface="TT Hoves"/>
                <a:cs typeface="TT Hoves"/>
                <a:sym typeface="TT Hoves"/>
              </a:rPr>
              <a:t>User-friendly for everyone</a:t>
            </a:r>
          </a:p>
          <a:p>
            <a:pPr algn="l" marL="518158" indent="-259079" lvl="1">
              <a:lnSpc>
                <a:spcPts val="3359"/>
              </a:lnSpc>
              <a:buFont typeface="Arial"/>
              <a:buChar char="•"/>
            </a:pPr>
            <a:r>
              <a:rPr lang="en-US" sz="2399">
                <a:solidFill>
                  <a:srgbClr val="FFFFFF"/>
                </a:solidFill>
                <a:latin typeface="TT Hoves"/>
                <a:ea typeface="TT Hoves"/>
                <a:cs typeface="TT Hoves"/>
                <a:sym typeface="TT Hoves"/>
              </a:rPr>
              <a:t>Real-time visualization and recommendations</a:t>
            </a:r>
          </a:p>
          <a:p>
            <a:pPr algn="l">
              <a:lnSpc>
                <a:spcPts val="33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grpSp>
        <p:nvGrpSpPr>
          <p:cNvPr name="Group 2" id="2"/>
          <p:cNvGrpSpPr/>
          <p:nvPr/>
        </p:nvGrpSpPr>
        <p:grpSpPr>
          <a:xfrm rot="0">
            <a:off x="0" y="-27760"/>
            <a:ext cx="8343913" cy="11375203"/>
            <a:chOff x="0" y="0"/>
            <a:chExt cx="2197574" cy="2995938"/>
          </a:xfrm>
        </p:grpSpPr>
        <p:sp>
          <p:nvSpPr>
            <p:cNvPr name="Freeform 3" id="3"/>
            <p:cNvSpPr/>
            <p:nvPr/>
          </p:nvSpPr>
          <p:spPr>
            <a:xfrm flipH="false" flipV="false" rot="0">
              <a:off x="0" y="0"/>
              <a:ext cx="2197574" cy="2995938"/>
            </a:xfrm>
            <a:custGeom>
              <a:avLst/>
              <a:gdLst/>
              <a:ahLst/>
              <a:cxnLst/>
              <a:rect r="r" b="b" t="t" l="l"/>
              <a:pathLst>
                <a:path h="2995938" w="2197574">
                  <a:moveTo>
                    <a:pt x="0" y="0"/>
                  </a:moveTo>
                  <a:lnTo>
                    <a:pt x="2197574" y="0"/>
                  </a:lnTo>
                  <a:lnTo>
                    <a:pt x="2197574" y="2995938"/>
                  </a:lnTo>
                  <a:lnTo>
                    <a:pt x="0" y="2995938"/>
                  </a:lnTo>
                  <a:close/>
                </a:path>
              </a:pathLst>
            </a:custGeom>
            <a:gradFill rotWithShape="true">
              <a:gsLst>
                <a:gs pos="0">
                  <a:srgbClr val="000000">
                    <a:alpha val="100000"/>
                  </a:srgbClr>
                </a:gs>
                <a:gs pos="100000">
                  <a:srgbClr val="33CD91">
                    <a:alpha val="100000"/>
                  </a:srgbClr>
                </a:gs>
              </a:gsLst>
              <a:lin ang="0"/>
            </a:gradFill>
          </p:spPr>
        </p:sp>
        <p:sp>
          <p:nvSpPr>
            <p:cNvPr name="TextBox 4" id="4"/>
            <p:cNvSpPr txBox="true"/>
            <p:nvPr/>
          </p:nvSpPr>
          <p:spPr>
            <a:xfrm>
              <a:off x="0" y="-47625"/>
              <a:ext cx="2197574" cy="3043563"/>
            </a:xfrm>
            <a:prstGeom prst="rect">
              <a:avLst/>
            </a:prstGeom>
          </p:spPr>
          <p:txBody>
            <a:bodyPr anchor="ctr" rtlCol="false" tIns="50800" lIns="50800" bIns="50800" rIns="50800"/>
            <a:lstStyle/>
            <a:p>
              <a:pPr algn="ctr">
                <a:lnSpc>
                  <a:spcPts val="2940"/>
                </a:lnSpc>
              </a:pPr>
            </a:p>
          </p:txBody>
        </p:sp>
      </p:grpSp>
      <p:grpSp>
        <p:nvGrpSpPr>
          <p:cNvPr name="Group 5" id="5"/>
          <p:cNvGrpSpPr>
            <a:grpSpLocks noChangeAspect="true"/>
          </p:cNvGrpSpPr>
          <p:nvPr/>
        </p:nvGrpSpPr>
        <p:grpSpPr>
          <a:xfrm rot="0">
            <a:off x="1163815" y="1255150"/>
            <a:ext cx="6016283" cy="11904250"/>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43488" t="0" r="-81159" b="0"/>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name="Freeform 15" id="15"/>
          <p:cNvSpPr/>
          <p:nvPr/>
        </p:nvSpPr>
        <p:spPr>
          <a:xfrm flipH="false" flipV="false" rot="1184394">
            <a:off x="14174609" y="3257549"/>
            <a:ext cx="8379362" cy="8089893"/>
          </a:xfrm>
          <a:custGeom>
            <a:avLst/>
            <a:gdLst/>
            <a:ahLst/>
            <a:cxnLst/>
            <a:rect r="r" b="b" t="t" l="l"/>
            <a:pathLst>
              <a:path h="8089893" w="8379362">
                <a:moveTo>
                  <a:pt x="0" y="0"/>
                </a:moveTo>
                <a:lnTo>
                  <a:pt x="8379362" y="0"/>
                </a:lnTo>
                <a:lnTo>
                  <a:pt x="8379362" y="8089893"/>
                </a:lnTo>
                <a:lnTo>
                  <a:pt x="0" y="80898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8784799" y="1091485"/>
            <a:ext cx="8539659" cy="1929765"/>
          </a:xfrm>
          <a:prstGeom prst="rect">
            <a:avLst/>
          </a:prstGeom>
        </p:spPr>
        <p:txBody>
          <a:bodyPr anchor="t" rtlCol="false" tIns="0" lIns="0" bIns="0" rIns="0">
            <a:spAutoFit/>
          </a:bodyPr>
          <a:lstStyle/>
          <a:p>
            <a:pPr algn="ctr">
              <a:lnSpc>
                <a:spcPts val="7679"/>
              </a:lnSpc>
            </a:pPr>
            <a:r>
              <a:rPr lang="en-US" sz="5999">
                <a:solidFill>
                  <a:srgbClr val="75FF82"/>
                </a:solidFill>
                <a:latin typeface="TT Hoves"/>
                <a:ea typeface="TT Hoves"/>
                <a:cs typeface="TT Hoves"/>
                <a:sym typeface="TT Hoves"/>
              </a:rPr>
              <a:t>Working of the Proposed System</a:t>
            </a:r>
          </a:p>
        </p:txBody>
      </p:sp>
      <p:sp>
        <p:nvSpPr>
          <p:cNvPr name="TextBox 17" id="17"/>
          <p:cNvSpPr txBox="true"/>
          <p:nvPr/>
        </p:nvSpPr>
        <p:spPr>
          <a:xfrm rot="0">
            <a:off x="8581022" y="3487331"/>
            <a:ext cx="8947214" cy="3508947"/>
          </a:xfrm>
          <a:prstGeom prst="rect">
            <a:avLst/>
          </a:prstGeom>
        </p:spPr>
        <p:txBody>
          <a:bodyPr anchor="t" rtlCol="false" tIns="0" lIns="0" bIns="0" rIns="0">
            <a:spAutoFit/>
          </a:bodyPr>
          <a:lstStyle/>
          <a:p>
            <a:pPr algn="l" marL="615854" indent="-307927" lvl="1">
              <a:lnSpc>
                <a:spcPts val="3993"/>
              </a:lnSpc>
              <a:buFont typeface="Arial"/>
              <a:buChar char="•"/>
            </a:pPr>
            <a:r>
              <a:rPr lang="en-US" sz="2852">
                <a:solidFill>
                  <a:srgbClr val="FFFFFF"/>
                </a:solidFill>
                <a:latin typeface="TT Hoves"/>
                <a:ea typeface="TT Hoves"/>
                <a:cs typeface="TT Hoves"/>
                <a:sym typeface="TT Hoves"/>
              </a:rPr>
              <a:t>Collect historical stock market data.</a:t>
            </a:r>
          </a:p>
          <a:p>
            <a:pPr algn="l" marL="615854" indent="-307927" lvl="1">
              <a:lnSpc>
                <a:spcPts val="3993"/>
              </a:lnSpc>
              <a:buFont typeface="Arial"/>
              <a:buChar char="•"/>
            </a:pPr>
            <a:r>
              <a:rPr lang="en-US" sz="2852">
                <a:solidFill>
                  <a:srgbClr val="FFFFFF"/>
                </a:solidFill>
                <a:latin typeface="TT Hoves"/>
                <a:ea typeface="TT Hoves"/>
                <a:cs typeface="TT Hoves"/>
                <a:sym typeface="TT Hoves"/>
              </a:rPr>
              <a:t>Cl</a:t>
            </a:r>
            <a:r>
              <a:rPr lang="en-US" sz="2852">
                <a:solidFill>
                  <a:srgbClr val="FFFFFF"/>
                </a:solidFill>
                <a:latin typeface="TT Hoves"/>
                <a:ea typeface="TT Hoves"/>
                <a:cs typeface="TT Hoves"/>
                <a:sym typeface="TT Hoves"/>
              </a:rPr>
              <a:t>ean and preprocess the dataset.</a:t>
            </a:r>
          </a:p>
          <a:p>
            <a:pPr algn="l" marL="615854" indent="-307927" lvl="1">
              <a:lnSpc>
                <a:spcPts val="3993"/>
              </a:lnSpc>
              <a:buFont typeface="Arial"/>
              <a:buChar char="•"/>
            </a:pPr>
            <a:r>
              <a:rPr lang="en-US" sz="2852">
                <a:solidFill>
                  <a:srgbClr val="FFFFFF"/>
                </a:solidFill>
                <a:latin typeface="TT Hoves"/>
                <a:ea typeface="TT Hoves"/>
                <a:cs typeface="TT Hoves"/>
                <a:sym typeface="TT Hoves"/>
              </a:rPr>
              <a:t>Ex</a:t>
            </a:r>
            <a:r>
              <a:rPr lang="en-US" sz="2852">
                <a:solidFill>
                  <a:srgbClr val="FFFFFF"/>
                </a:solidFill>
                <a:latin typeface="TT Hoves"/>
                <a:ea typeface="TT Hoves"/>
                <a:cs typeface="TT Hoves"/>
                <a:sym typeface="TT Hoves"/>
              </a:rPr>
              <a:t>tract important technical indicators.</a:t>
            </a:r>
          </a:p>
          <a:p>
            <a:pPr algn="l" marL="615854" indent="-307927" lvl="1">
              <a:lnSpc>
                <a:spcPts val="3993"/>
              </a:lnSpc>
              <a:buFont typeface="Arial"/>
              <a:buChar char="•"/>
            </a:pPr>
            <a:r>
              <a:rPr lang="en-US" sz="2852">
                <a:solidFill>
                  <a:srgbClr val="FFFFFF"/>
                </a:solidFill>
                <a:latin typeface="TT Hoves"/>
                <a:ea typeface="TT Hoves"/>
                <a:cs typeface="TT Hoves"/>
                <a:sym typeface="TT Hoves"/>
              </a:rPr>
              <a:t>Tr</a:t>
            </a:r>
            <a:r>
              <a:rPr lang="en-US" sz="2852">
                <a:solidFill>
                  <a:srgbClr val="FFFFFF"/>
                </a:solidFill>
                <a:latin typeface="TT Hoves"/>
                <a:ea typeface="TT Hoves"/>
                <a:cs typeface="TT Hoves"/>
                <a:sym typeface="TT Hoves"/>
              </a:rPr>
              <a:t>ain Machine Learning models.</a:t>
            </a:r>
          </a:p>
          <a:p>
            <a:pPr algn="l" marL="615854" indent="-307927" lvl="1">
              <a:lnSpc>
                <a:spcPts val="3993"/>
              </a:lnSpc>
              <a:buFont typeface="Arial"/>
              <a:buChar char="•"/>
            </a:pPr>
            <a:r>
              <a:rPr lang="en-US" sz="2852">
                <a:solidFill>
                  <a:srgbClr val="FFFFFF"/>
                </a:solidFill>
                <a:latin typeface="TT Hoves"/>
                <a:ea typeface="TT Hoves"/>
                <a:cs typeface="TT Hoves"/>
                <a:sym typeface="TT Hoves"/>
              </a:rPr>
              <a:t>Predict</a:t>
            </a:r>
            <a:r>
              <a:rPr lang="en-US" sz="2852">
                <a:solidFill>
                  <a:srgbClr val="FFFFFF"/>
                </a:solidFill>
                <a:latin typeface="TT Hoves"/>
                <a:ea typeface="TT Hoves"/>
                <a:cs typeface="TT Hoves"/>
                <a:sym typeface="TT Hoves"/>
              </a:rPr>
              <a:t> future stock prices.</a:t>
            </a:r>
          </a:p>
          <a:p>
            <a:pPr algn="l" marL="615854" indent="-307927" lvl="1">
              <a:lnSpc>
                <a:spcPts val="3993"/>
              </a:lnSpc>
              <a:buFont typeface="Arial"/>
              <a:buChar char="•"/>
            </a:pPr>
            <a:r>
              <a:rPr lang="en-US" sz="2852">
                <a:solidFill>
                  <a:srgbClr val="FFFFFF"/>
                </a:solidFill>
                <a:latin typeface="TT Hoves"/>
                <a:ea typeface="TT Hoves"/>
                <a:cs typeface="TT Hoves"/>
                <a:sym typeface="TT Hoves"/>
              </a:rPr>
              <a:t>Dis</a:t>
            </a:r>
            <a:r>
              <a:rPr lang="en-US" sz="2852">
                <a:solidFill>
                  <a:srgbClr val="FFFFFF"/>
                </a:solidFill>
                <a:latin typeface="TT Hoves"/>
                <a:ea typeface="TT Hoves"/>
                <a:cs typeface="TT Hoves"/>
                <a:sym typeface="TT Hoves"/>
              </a:rPr>
              <a:t>play results through an interactive dashboard.</a:t>
            </a:r>
          </a:p>
          <a:p>
            <a:pPr algn="l">
              <a:lnSpc>
                <a:spcPts val="3993"/>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4616650" y="643862"/>
            <a:ext cx="9938959" cy="8999275"/>
          </a:xfrm>
          <a:custGeom>
            <a:avLst/>
            <a:gdLst/>
            <a:ahLst/>
            <a:cxnLst/>
            <a:rect r="r" b="b" t="t" l="l"/>
            <a:pathLst>
              <a:path h="8999275" w="9938959">
                <a:moveTo>
                  <a:pt x="0" y="0"/>
                </a:moveTo>
                <a:lnTo>
                  <a:pt x="9938959" y="0"/>
                </a:lnTo>
                <a:lnTo>
                  <a:pt x="9938959" y="8999276"/>
                </a:lnTo>
                <a:lnTo>
                  <a:pt x="0" y="8999276"/>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35251" y="3031702"/>
            <a:ext cx="4911591" cy="3664452"/>
            <a:chOff x="0" y="0"/>
            <a:chExt cx="1293588" cy="965123"/>
          </a:xfrm>
        </p:grpSpPr>
        <p:sp>
          <p:nvSpPr>
            <p:cNvPr name="Freeform 4" id="4"/>
            <p:cNvSpPr/>
            <p:nvPr/>
          </p:nvSpPr>
          <p:spPr>
            <a:xfrm flipH="false" flipV="false" rot="0">
              <a:off x="0" y="0"/>
              <a:ext cx="1293588" cy="965123"/>
            </a:xfrm>
            <a:custGeom>
              <a:avLst/>
              <a:gdLst/>
              <a:ahLst/>
              <a:cxnLst/>
              <a:rect r="r" b="b" t="t" l="l"/>
              <a:pathLst>
                <a:path h="965123" w="1293588">
                  <a:moveTo>
                    <a:pt x="36254" y="0"/>
                  </a:moveTo>
                  <a:lnTo>
                    <a:pt x="1257334" y="0"/>
                  </a:lnTo>
                  <a:cubicBezTo>
                    <a:pt x="1277356" y="0"/>
                    <a:pt x="1293588" y="16231"/>
                    <a:pt x="1293588" y="36254"/>
                  </a:cubicBezTo>
                  <a:lnTo>
                    <a:pt x="1293588" y="928869"/>
                  </a:lnTo>
                  <a:cubicBezTo>
                    <a:pt x="1293588" y="938484"/>
                    <a:pt x="1289768" y="947706"/>
                    <a:pt x="1282969" y="954505"/>
                  </a:cubicBezTo>
                  <a:cubicBezTo>
                    <a:pt x="1276170" y="961303"/>
                    <a:pt x="1266949" y="965123"/>
                    <a:pt x="1257334" y="965123"/>
                  </a:cubicBezTo>
                  <a:lnTo>
                    <a:pt x="36254" y="965123"/>
                  </a:lnTo>
                  <a:cubicBezTo>
                    <a:pt x="26639" y="965123"/>
                    <a:pt x="17417" y="961303"/>
                    <a:pt x="10619" y="954505"/>
                  </a:cubicBezTo>
                  <a:cubicBezTo>
                    <a:pt x="3820" y="947706"/>
                    <a:pt x="0" y="938484"/>
                    <a:pt x="0" y="928869"/>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5" id="5"/>
            <p:cNvSpPr txBox="true"/>
            <p:nvPr/>
          </p:nvSpPr>
          <p:spPr>
            <a:xfrm>
              <a:off x="0" y="-47625"/>
              <a:ext cx="1293588" cy="101274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435251" y="1373505"/>
            <a:ext cx="4736352" cy="1028138"/>
          </a:xfrm>
          <a:prstGeom prst="rect">
            <a:avLst/>
          </a:prstGeom>
        </p:spPr>
        <p:txBody>
          <a:bodyPr anchor="t" rtlCol="false" tIns="0" lIns="0" bIns="0" rIns="0">
            <a:spAutoFit/>
          </a:bodyPr>
          <a:lstStyle/>
          <a:p>
            <a:pPr algn="l">
              <a:lnSpc>
                <a:spcPts val="8430"/>
              </a:lnSpc>
            </a:pPr>
            <a:r>
              <a:rPr lang="en-US" sz="6022">
                <a:solidFill>
                  <a:srgbClr val="75FF82"/>
                </a:solidFill>
                <a:latin typeface="TT Hoves"/>
                <a:ea typeface="TT Hoves"/>
                <a:cs typeface="TT Hoves"/>
                <a:sym typeface="TT Hoves"/>
              </a:rPr>
              <a:t>Objectives</a:t>
            </a:r>
          </a:p>
        </p:txBody>
      </p:sp>
      <p:sp>
        <p:nvSpPr>
          <p:cNvPr name="TextBox 7" id="7"/>
          <p:cNvSpPr txBox="true"/>
          <p:nvPr/>
        </p:nvSpPr>
        <p:spPr>
          <a:xfrm rot="0">
            <a:off x="1914367" y="4218133"/>
            <a:ext cx="3953358" cy="12439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Predict future stock prices using Machine Learning algorithms.</a:t>
            </a:r>
          </a:p>
        </p:txBody>
      </p:sp>
      <p:grpSp>
        <p:nvGrpSpPr>
          <p:cNvPr name="Group 8" id="8"/>
          <p:cNvGrpSpPr/>
          <p:nvPr/>
        </p:nvGrpSpPr>
        <p:grpSpPr>
          <a:xfrm rot="0">
            <a:off x="1435251" y="6921661"/>
            <a:ext cx="4911591" cy="2336639"/>
            <a:chOff x="0" y="0"/>
            <a:chExt cx="1293588" cy="615411"/>
          </a:xfrm>
        </p:grpSpPr>
        <p:sp>
          <p:nvSpPr>
            <p:cNvPr name="Freeform 9" id="9"/>
            <p:cNvSpPr/>
            <p:nvPr/>
          </p:nvSpPr>
          <p:spPr>
            <a:xfrm flipH="false" flipV="false" rot="0">
              <a:off x="0" y="0"/>
              <a:ext cx="1293588" cy="615411"/>
            </a:xfrm>
            <a:custGeom>
              <a:avLst/>
              <a:gdLst/>
              <a:ahLst/>
              <a:cxnLst/>
              <a:rect r="r" b="b" t="t" l="l"/>
              <a:pathLst>
                <a:path h="615411" w="1293588">
                  <a:moveTo>
                    <a:pt x="36254" y="0"/>
                  </a:moveTo>
                  <a:lnTo>
                    <a:pt x="1257334" y="0"/>
                  </a:lnTo>
                  <a:cubicBezTo>
                    <a:pt x="1277356" y="0"/>
                    <a:pt x="1293588" y="16231"/>
                    <a:pt x="1293588" y="36254"/>
                  </a:cubicBezTo>
                  <a:lnTo>
                    <a:pt x="1293588" y="579157"/>
                  </a:lnTo>
                  <a:cubicBezTo>
                    <a:pt x="1293588" y="588772"/>
                    <a:pt x="1289768" y="597994"/>
                    <a:pt x="1282969" y="604793"/>
                  </a:cubicBezTo>
                  <a:cubicBezTo>
                    <a:pt x="1276170" y="611592"/>
                    <a:pt x="1266949" y="615411"/>
                    <a:pt x="1257334" y="615411"/>
                  </a:cubicBezTo>
                  <a:lnTo>
                    <a:pt x="36254" y="615411"/>
                  </a:lnTo>
                  <a:cubicBezTo>
                    <a:pt x="26639" y="615411"/>
                    <a:pt x="17417" y="611592"/>
                    <a:pt x="10619" y="604793"/>
                  </a:cubicBezTo>
                  <a:cubicBezTo>
                    <a:pt x="3820" y="597994"/>
                    <a:pt x="0" y="588772"/>
                    <a:pt x="0" y="579157"/>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10" id="10"/>
            <p:cNvSpPr txBox="true"/>
            <p:nvPr/>
          </p:nvSpPr>
          <p:spPr>
            <a:xfrm>
              <a:off x="0" y="-47625"/>
              <a:ext cx="1293588" cy="663036"/>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785241" y="7416880"/>
            <a:ext cx="4211610" cy="1298575"/>
          </a:xfrm>
          <a:prstGeom prst="rect">
            <a:avLst/>
          </a:prstGeom>
        </p:spPr>
        <p:txBody>
          <a:bodyPr anchor="t" rtlCol="false" tIns="0" lIns="0" bIns="0" rIns="0">
            <a:spAutoFit/>
          </a:bodyPr>
          <a:lstStyle/>
          <a:p>
            <a:pPr algn="ctr">
              <a:lnSpc>
                <a:spcPts val="3499"/>
              </a:lnSpc>
            </a:pPr>
            <a:r>
              <a:rPr lang="en-US" sz="2499">
                <a:solidFill>
                  <a:srgbClr val="FFFFFF"/>
                </a:solidFill>
                <a:latin typeface="TT Hoves"/>
                <a:ea typeface="TT Hoves"/>
                <a:cs typeface="TT Hoves"/>
                <a:sym typeface="TT Hoves"/>
              </a:rPr>
              <a:t>Provide Buy, Hold, or Sell recommendations based on predictions.</a:t>
            </a:r>
          </a:p>
        </p:txBody>
      </p:sp>
      <p:grpSp>
        <p:nvGrpSpPr>
          <p:cNvPr name="Group 12" id="12"/>
          <p:cNvGrpSpPr/>
          <p:nvPr/>
        </p:nvGrpSpPr>
        <p:grpSpPr>
          <a:xfrm rot="0">
            <a:off x="6688204" y="3031702"/>
            <a:ext cx="4911591" cy="3664452"/>
            <a:chOff x="0" y="0"/>
            <a:chExt cx="1293588" cy="965123"/>
          </a:xfrm>
        </p:grpSpPr>
        <p:sp>
          <p:nvSpPr>
            <p:cNvPr name="Freeform 13" id="13"/>
            <p:cNvSpPr/>
            <p:nvPr/>
          </p:nvSpPr>
          <p:spPr>
            <a:xfrm flipH="false" flipV="false" rot="0">
              <a:off x="0" y="0"/>
              <a:ext cx="1293588" cy="965123"/>
            </a:xfrm>
            <a:custGeom>
              <a:avLst/>
              <a:gdLst/>
              <a:ahLst/>
              <a:cxnLst/>
              <a:rect r="r" b="b" t="t" l="l"/>
              <a:pathLst>
                <a:path h="965123" w="1293588">
                  <a:moveTo>
                    <a:pt x="36254" y="0"/>
                  </a:moveTo>
                  <a:lnTo>
                    <a:pt x="1257334" y="0"/>
                  </a:lnTo>
                  <a:cubicBezTo>
                    <a:pt x="1277356" y="0"/>
                    <a:pt x="1293588" y="16231"/>
                    <a:pt x="1293588" y="36254"/>
                  </a:cubicBezTo>
                  <a:lnTo>
                    <a:pt x="1293588" y="928869"/>
                  </a:lnTo>
                  <a:cubicBezTo>
                    <a:pt x="1293588" y="938484"/>
                    <a:pt x="1289768" y="947706"/>
                    <a:pt x="1282969" y="954505"/>
                  </a:cubicBezTo>
                  <a:cubicBezTo>
                    <a:pt x="1276170" y="961303"/>
                    <a:pt x="1266949" y="965123"/>
                    <a:pt x="1257334" y="965123"/>
                  </a:cubicBezTo>
                  <a:lnTo>
                    <a:pt x="36254" y="965123"/>
                  </a:lnTo>
                  <a:cubicBezTo>
                    <a:pt x="26639" y="965123"/>
                    <a:pt x="17417" y="961303"/>
                    <a:pt x="10619" y="954505"/>
                  </a:cubicBezTo>
                  <a:cubicBezTo>
                    <a:pt x="3820" y="947706"/>
                    <a:pt x="0" y="938484"/>
                    <a:pt x="0" y="928869"/>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14" id="14"/>
            <p:cNvSpPr txBox="true"/>
            <p:nvPr/>
          </p:nvSpPr>
          <p:spPr>
            <a:xfrm>
              <a:off x="0" y="-47625"/>
              <a:ext cx="1293588" cy="1012748"/>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7242719" y="4218133"/>
            <a:ext cx="3953358" cy="12439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Perform efficient data preprocessing for improved prediction accuracy.</a:t>
            </a:r>
          </a:p>
        </p:txBody>
      </p:sp>
      <p:grpSp>
        <p:nvGrpSpPr>
          <p:cNvPr name="Group 16" id="16"/>
          <p:cNvGrpSpPr/>
          <p:nvPr/>
        </p:nvGrpSpPr>
        <p:grpSpPr>
          <a:xfrm rot="0">
            <a:off x="6688204" y="6921661"/>
            <a:ext cx="4911591" cy="2336639"/>
            <a:chOff x="0" y="0"/>
            <a:chExt cx="1293588" cy="615411"/>
          </a:xfrm>
        </p:grpSpPr>
        <p:sp>
          <p:nvSpPr>
            <p:cNvPr name="Freeform 17" id="17"/>
            <p:cNvSpPr/>
            <p:nvPr/>
          </p:nvSpPr>
          <p:spPr>
            <a:xfrm flipH="false" flipV="false" rot="0">
              <a:off x="0" y="0"/>
              <a:ext cx="1293588" cy="615411"/>
            </a:xfrm>
            <a:custGeom>
              <a:avLst/>
              <a:gdLst/>
              <a:ahLst/>
              <a:cxnLst/>
              <a:rect r="r" b="b" t="t" l="l"/>
              <a:pathLst>
                <a:path h="615411" w="1293588">
                  <a:moveTo>
                    <a:pt x="36254" y="0"/>
                  </a:moveTo>
                  <a:lnTo>
                    <a:pt x="1257334" y="0"/>
                  </a:lnTo>
                  <a:cubicBezTo>
                    <a:pt x="1277356" y="0"/>
                    <a:pt x="1293588" y="16231"/>
                    <a:pt x="1293588" y="36254"/>
                  </a:cubicBezTo>
                  <a:lnTo>
                    <a:pt x="1293588" y="579157"/>
                  </a:lnTo>
                  <a:cubicBezTo>
                    <a:pt x="1293588" y="588772"/>
                    <a:pt x="1289768" y="597994"/>
                    <a:pt x="1282969" y="604793"/>
                  </a:cubicBezTo>
                  <a:cubicBezTo>
                    <a:pt x="1276170" y="611592"/>
                    <a:pt x="1266949" y="615411"/>
                    <a:pt x="1257334" y="615411"/>
                  </a:cubicBezTo>
                  <a:lnTo>
                    <a:pt x="36254" y="615411"/>
                  </a:lnTo>
                  <a:cubicBezTo>
                    <a:pt x="26639" y="615411"/>
                    <a:pt x="17417" y="611592"/>
                    <a:pt x="10619" y="604793"/>
                  </a:cubicBezTo>
                  <a:cubicBezTo>
                    <a:pt x="3820" y="597994"/>
                    <a:pt x="0" y="588772"/>
                    <a:pt x="0" y="579157"/>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18" id="18"/>
            <p:cNvSpPr txBox="true"/>
            <p:nvPr/>
          </p:nvSpPr>
          <p:spPr>
            <a:xfrm>
              <a:off x="0" y="-47625"/>
              <a:ext cx="1293588" cy="663036"/>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7113593" y="7444185"/>
            <a:ext cx="4211610" cy="12439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Develop an interactive dashboard for visualizing stock trends and prediction results.</a:t>
            </a:r>
          </a:p>
        </p:txBody>
      </p:sp>
      <p:grpSp>
        <p:nvGrpSpPr>
          <p:cNvPr name="Group 20" id="20"/>
          <p:cNvGrpSpPr/>
          <p:nvPr/>
        </p:nvGrpSpPr>
        <p:grpSpPr>
          <a:xfrm rot="0">
            <a:off x="11942696" y="3031702"/>
            <a:ext cx="4911591" cy="3664452"/>
            <a:chOff x="0" y="0"/>
            <a:chExt cx="1293588" cy="965123"/>
          </a:xfrm>
        </p:grpSpPr>
        <p:sp>
          <p:nvSpPr>
            <p:cNvPr name="Freeform 21" id="21"/>
            <p:cNvSpPr/>
            <p:nvPr/>
          </p:nvSpPr>
          <p:spPr>
            <a:xfrm flipH="false" flipV="false" rot="0">
              <a:off x="0" y="0"/>
              <a:ext cx="1293588" cy="965123"/>
            </a:xfrm>
            <a:custGeom>
              <a:avLst/>
              <a:gdLst/>
              <a:ahLst/>
              <a:cxnLst/>
              <a:rect r="r" b="b" t="t" l="l"/>
              <a:pathLst>
                <a:path h="965123" w="1293588">
                  <a:moveTo>
                    <a:pt x="36254" y="0"/>
                  </a:moveTo>
                  <a:lnTo>
                    <a:pt x="1257334" y="0"/>
                  </a:lnTo>
                  <a:cubicBezTo>
                    <a:pt x="1277356" y="0"/>
                    <a:pt x="1293588" y="16231"/>
                    <a:pt x="1293588" y="36254"/>
                  </a:cubicBezTo>
                  <a:lnTo>
                    <a:pt x="1293588" y="928869"/>
                  </a:lnTo>
                  <a:cubicBezTo>
                    <a:pt x="1293588" y="938484"/>
                    <a:pt x="1289768" y="947706"/>
                    <a:pt x="1282969" y="954505"/>
                  </a:cubicBezTo>
                  <a:cubicBezTo>
                    <a:pt x="1276170" y="961303"/>
                    <a:pt x="1266949" y="965123"/>
                    <a:pt x="1257334" y="965123"/>
                  </a:cubicBezTo>
                  <a:lnTo>
                    <a:pt x="36254" y="965123"/>
                  </a:lnTo>
                  <a:cubicBezTo>
                    <a:pt x="26639" y="965123"/>
                    <a:pt x="17417" y="961303"/>
                    <a:pt x="10619" y="954505"/>
                  </a:cubicBezTo>
                  <a:cubicBezTo>
                    <a:pt x="3820" y="947706"/>
                    <a:pt x="0" y="938484"/>
                    <a:pt x="0" y="928869"/>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22" id="22"/>
            <p:cNvSpPr txBox="true"/>
            <p:nvPr/>
          </p:nvSpPr>
          <p:spPr>
            <a:xfrm>
              <a:off x="0" y="-47625"/>
              <a:ext cx="1293588" cy="1012748"/>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12421812" y="4218133"/>
            <a:ext cx="3953358" cy="12439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Compare multiple Machine Learning models to identify the best-performing model.</a:t>
            </a:r>
          </a:p>
        </p:txBody>
      </p:sp>
      <p:grpSp>
        <p:nvGrpSpPr>
          <p:cNvPr name="Group 24" id="24"/>
          <p:cNvGrpSpPr/>
          <p:nvPr/>
        </p:nvGrpSpPr>
        <p:grpSpPr>
          <a:xfrm rot="0">
            <a:off x="11942696" y="6921661"/>
            <a:ext cx="4911591" cy="2336639"/>
            <a:chOff x="0" y="0"/>
            <a:chExt cx="1293588" cy="615411"/>
          </a:xfrm>
        </p:grpSpPr>
        <p:sp>
          <p:nvSpPr>
            <p:cNvPr name="Freeform 25" id="25"/>
            <p:cNvSpPr/>
            <p:nvPr/>
          </p:nvSpPr>
          <p:spPr>
            <a:xfrm flipH="false" flipV="false" rot="0">
              <a:off x="0" y="0"/>
              <a:ext cx="1293588" cy="615411"/>
            </a:xfrm>
            <a:custGeom>
              <a:avLst/>
              <a:gdLst/>
              <a:ahLst/>
              <a:cxnLst/>
              <a:rect r="r" b="b" t="t" l="l"/>
              <a:pathLst>
                <a:path h="615411" w="1293588">
                  <a:moveTo>
                    <a:pt x="36254" y="0"/>
                  </a:moveTo>
                  <a:lnTo>
                    <a:pt x="1257334" y="0"/>
                  </a:lnTo>
                  <a:cubicBezTo>
                    <a:pt x="1277356" y="0"/>
                    <a:pt x="1293588" y="16231"/>
                    <a:pt x="1293588" y="36254"/>
                  </a:cubicBezTo>
                  <a:lnTo>
                    <a:pt x="1293588" y="579157"/>
                  </a:lnTo>
                  <a:cubicBezTo>
                    <a:pt x="1293588" y="588772"/>
                    <a:pt x="1289768" y="597994"/>
                    <a:pt x="1282969" y="604793"/>
                  </a:cubicBezTo>
                  <a:cubicBezTo>
                    <a:pt x="1276170" y="611592"/>
                    <a:pt x="1266949" y="615411"/>
                    <a:pt x="1257334" y="615411"/>
                  </a:cubicBezTo>
                  <a:lnTo>
                    <a:pt x="36254" y="615411"/>
                  </a:lnTo>
                  <a:cubicBezTo>
                    <a:pt x="26639" y="615411"/>
                    <a:pt x="17417" y="611592"/>
                    <a:pt x="10619" y="604793"/>
                  </a:cubicBezTo>
                  <a:cubicBezTo>
                    <a:pt x="3820" y="597994"/>
                    <a:pt x="0" y="588772"/>
                    <a:pt x="0" y="579157"/>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26" id="26"/>
            <p:cNvSpPr txBox="true"/>
            <p:nvPr/>
          </p:nvSpPr>
          <p:spPr>
            <a:xfrm>
              <a:off x="0" y="-47625"/>
              <a:ext cx="1293588" cy="663036"/>
            </a:xfrm>
            <a:prstGeom prst="rect">
              <a:avLst/>
            </a:prstGeom>
          </p:spPr>
          <p:txBody>
            <a:bodyPr anchor="ctr" rtlCol="false" tIns="50800" lIns="50800" bIns="50800" rIns="50800"/>
            <a:lstStyle/>
            <a:p>
              <a:pPr algn="ctr">
                <a:lnSpc>
                  <a:spcPts val="2659"/>
                </a:lnSpc>
                <a:spcBef>
                  <a:spcPct val="0"/>
                </a:spcBef>
              </a:pPr>
            </a:p>
          </p:txBody>
        </p:sp>
      </p:grpSp>
      <p:sp>
        <p:nvSpPr>
          <p:cNvPr name="TextBox 27" id="27"/>
          <p:cNvSpPr txBox="true"/>
          <p:nvPr/>
        </p:nvSpPr>
        <p:spPr>
          <a:xfrm rot="0">
            <a:off x="12292686" y="7444185"/>
            <a:ext cx="4211610" cy="12439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Help investors make informed, data-driven investment decisions.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4616650" y="643862"/>
            <a:ext cx="9938959" cy="8999275"/>
          </a:xfrm>
          <a:custGeom>
            <a:avLst/>
            <a:gdLst/>
            <a:ahLst/>
            <a:cxnLst/>
            <a:rect r="r" b="b" t="t" l="l"/>
            <a:pathLst>
              <a:path h="8999275" w="9938959">
                <a:moveTo>
                  <a:pt x="0" y="0"/>
                </a:moveTo>
                <a:lnTo>
                  <a:pt x="9938959" y="0"/>
                </a:lnTo>
                <a:lnTo>
                  <a:pt x="9938959" y="8999276"/>
                </a:lnTo>
                <a:lnTo>
                  <a:pt x="0" y="8999276"/>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35251" y="3031702"/>
            <a:ext cx="4911591" cy="3664452"/>
            <a:chOff x="0" y="0"/>
            <a:chExt cx="1293588" cy="965123"/>
          </a:xfrm>
        </p:grpSpPr>
        <p:sp>
          <p:nvSpPr>
            <p:cNvPr name="Freeform 4" id="4"/>
            <p:cNvSpPr/>
            <p:nvPr/>
          </p:nvSpPr>
          <p:spPr>
            <a:xfrm flipH="false" flipV="false" rot="0">
              <a:off x="0" y="0"/>
              <a:ext cx="1293588" cy="965123"/>
            </a:xfrm>
            <a:custGeom>
              <a:avLst/>
              <a:gdLst/>
              <a:ahLst/>
              <a:cxnLst/>
              <a:rect r="r" b="b" t="t" l="l"/>
              <a:pathLst>
                <a:path h="965123" w="1293588">
                  <a:moveTo>
                    <a:pt x="36254" y="0"/>
                  </a:moveTo>
                  <a:lnTo>
                    <a:pt x="1257334" y="0"/>
                  </a:lnTo>
                  <a:cubicBezTo>
                    <a:pt x="1277356" y="0"/>
                    <a:pt x="1293588" y="16231"/>
                    <a:pt x="1293588" y="36254"/>
                  </a:cubicBezTo>
                  <a:lnTo>
                    <a:pt x="1293588" y="928869"/>
                  </a:lnTo>
                  <a:cubicBezTo>
                    <a:pt x="1293588" y="938484"/>
                    <a:pt x="1289768" y="947706"/>
                    <a:pt x="1282969" y="954505"/>
                  </a:cubicBezTo>
                  <a:cubicBezTo>
                    <a:pt x="1276170" y="961303"/>
                    <a:pt x="1266949" y="965123"/>
                    <a:pt x="1257334" y="965123"/>
                  </a:cubicBezTo>
                  <a:lnTo>
                    <a:pt x="36254" y="965123"/>
                  </a:lnTo>
                  <a:cubicBezTo>
                    <a:pt x="26639" y="965123"/>
                    <a:pt x="17417" y="961303"/>
                    <a:pt x="10619" y="954505"/>
                  </a:cubicBezTo>
                  <a:cubicBezTo>
                    <a:pt x="3820" y="947706"/>
                    <a:pt x="0" y="938484"/>
                    <a:pt x="0" y="928869"/>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5" id="5"/>
            <p:cNvSpPr txBox="true"/>
            <p:nvPr/>
          </p:nvSpPr>
          <p:spPr>
            <a:xfrm>
              <a:off x="0" y="-47625"/>
              <a:ext cx="1293588" cy="101274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435251" y="1363980"/>
            <a:ext cx="8601967" cy="1038225"/>
          </a:xfrm>
          <a:prstGeom prst="rect">
            <a:avLst/>
          </a:prstGeom>
        </p:spPr>
        <p:txBody>
          <a:bodyPr anchor="t" rtlCol="false" tIns="0" lIns="0" bIns="0" rIns="0">
            <a:spAutoFit/>
          </a:bodyPr>
          <a:lstStyle/>
          <a:p>
            <a:pPr algn="l">
              <a:lnSpc>
                <a:spcPts val="8400"/>
              </a:lnSpc>
            </a:pPr>
            <a:r>
              <a:rPr lang="en-US" sz="6000">
                <a:solidFill>
                  <a:srgbClr val="75FF82"/>
                </a:solidFill>
                <a:latin typeface="TT Hoves"/>
                <a:ea typeface="TT Hoves"/>
                <a:cs typeface="TT Hoves"/>
                <a:sym typeface="TT Hoves"/>
              </a:rPr>
              <a:t>Scope of the Pro</a:t>
            </a:r>
            <a:r>
              <a:rPr lang="en-US" sz="6000">
                <a:solidFill>
                  <a:srgbClr val="75FF82"/>
                </a:solidFill>
                <a:latin typeface="TT Hoves"/>
                <a:ea typeface="TT Hoves"/>
                <a:cs typeface="TT Hoves"/>
                <a:sym typeface="TT Hoves"/>
              </a:rPr>
              <a:t>ject</a:t>
            </a:r>
          </a:p>
        </p:txBody>
      </p:sp>
      <p:sp>
        <p:nvSpPr>
          <p:cNvPr name="TextBox 7" id="7"/>
          <p:cNvSpPr txBox="true"/>
          <p:nvPr/>
        </p:nvSpPr>
        <p:spPr>
          <a:xfrm rot="0">
            <a:off x="1914367" y="4218133"/>
            <a:ext cx="3953358" cy="8248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Integration with real-time stock market data.</a:t>
            </a:r>
          </a:p>
        </p:txBody>
      </p:sp>
      <p:grpSp>
        <p:nvGrpSpPr>
          <p:cNvPr name="Group 8" id="8"/>
          <p:cNvGrpSpPr/>
          <p:nvPr/>
        </p:nvGrpSpPr>
        <p:grpSpPr>
          <a:xfrm rot="0">
            <a:off x="1435251" y="6921661"/>
            <a:ext cx="4911591" cy="2336639"/>
            <a:chOff x="0" y="0"/>
            <a:chExt cx="1293588" cy="615411"/>
          </a:xfrm>
        </p:grpSpPr>
        <p:sp>
          <p:nvSpPr>
            <p:cNvPr name="Freeform 9" id="9"/>
            <p:cNvSpPr/>
            <p:nvPr/>
          </p:nvSpPr>
          <p:spPr>
            <a:xfrm flipH="false" flipV="false" rot="0">
              <a:off x="0" y="0"/>
              <a:ext cx="1293588" cy="615411"/>
            </a:xfrm>
            <a:custGeom>
              <a:avLst/>
              <a:gdLst/>
              <a:ahLst/>
              <a:cxnLst/>
              <a:rect r="r" b="b" t="t" l="l"/>
              <a:pathLst>
                <a:path h="615411" w="1293588">
                  <a:moveTo>
                    <a:pt x="36254" y="0"/>
                  </a:moveTo>
                  <a:lnTo>
                    <a:pt x="1257334" y="0"/>
                  </a:lnTo>
                  <a:cubicBezTo>
                    <a:pt x="1277356" y="0"/>
                    <a:pt x="1293588" y="16231"/>
                    <a:pt x="1293588" y="36254"/>
                  </a:cubicBezTo>
                  <a:lnTo>
                    <a:pt x="1293588" y="579157"/>
                  </a:lnTo>
                  <a:cubicBezTo>
                    <a:pt x="1293588" y="588772"/>
                    <a:pt x="1289768" y="597994"/>
                    <a:pt x="1282969" y="604793"/>
                  </a:cubicBezTo>
                  <a:cubicBezTo>
                    <a:pt x="1276170" y="611592"/>
                    <a:pt x="1266949" y="615411"/>
                    <a:pt x="1257334" y="615411"/>
                  </a:cubicBezTo>
                  <a:lnTo>
                    <a:pt x="36254" y="615411"/>
                  </a:lnTo>
                  <a:cubicBezTo>
                    <a:pt x="26639" y="615411"/>
                    <a:pt x="17417" y="611592"/>
                    <a:pt x="10619" y="604793"/>
                  </a:cubicBezTo>
                  <a:cubicBezTo>
                    <a:pt x="3820" y="597994"/>
                    <a:pt x="0" y="588772"/>
                    <a:pt x="0" y="579157"/>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10" id="10"/>
            <p:cNvSpPr txBox="true"/>
            <p:nvPr/>
          </p:nvSpPr>
          <p:spPr>
            <a:xfrm>
              <a:off x="0" y="-47625"/>
              <a:ext cx="1293588" cy="663036"/>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785241" y="7416880"/>
            <a:ext cx="4211610" cy="1298575"/>
          </a:xfrm>
          <a:prstGeom prst="rect">
            <a:avLst/>
          </a:prstGeom>
        </p:spPr>
        <p:txBody>
          <a:bodyPr anchor="t" rtlCol="false" tIns="0" lIns="0" bIns="0" rIns="0">
            <a:spAutoFit/>
          </a:bodyPr>
          <a:lstStyle/>
          <a:p>
            <a:pPr algn="ctr">
              <a:lnSpc>
                <a:spcPts val="3499"/>
              </a:lnSpc>
            </a:pPr>
            <a:r>
              <a:rPr lang="en-US" sz="2499">
                <a:solidFill>
                  <a:srgbClr val="FFFFFF"/>
                </a:solidFill>
                <a:latin typeface="TT Hoves"/>
                <a:ea typeface="TT Hoves"/>
                <a:cs typeface="TT Hoves"/>
                <a:sym typeface="TT Hoves"/>
              </a:rPr>
              <a:t>Advanced Deep Learning models (LGRU, Transformers, etc,).</a:t>
            </a:r>
          </a:p>
        </p:txBody>
      </p:sp>
      <p:grpSp>
        <p:nvGrpSpPr>
          <p:cNvPr name="Group 12" id="12"/>
          <p:cNvGrpSpPr/>
          <p:nvPr/>
        </p:nvGrpSpPr>
        <p:grpSpPr>
          <a:xfrm rot="0">
            <a:off x="6688204" y="3031702"/>
            <a:ext cx="4911591" cy="3664452"/>
            <a:chOff x="0" y="0"/>
            <a:chExt cx="1293588" cy="965123"/>
          </a:xfrm>
        </p:grpSpPr>
        <p:sp>
          <p:nvSpPr>
            <p:cNvPr name="Freeform 13" id="13"/>
            <p:cNvSpPr/>
            <p:nvPr/>
          </p:nvSpPr>
          <p:spPr>
            <a:xfrm flipH="false" flipV="false" rot="0">
              <a:off x="0" y="0"/>
              <a:ext cx="1293588" cy="965123"/>
            </a:xfrm>
            <a:custGeom>
              <a:avLst/>
              <a:gdLst/>
              <a:ahLst/>
              <a:cxnLst/>
              <a:rect r="r" b="b" t="t" l="l"/>
              <a:pathLst>
                <a:path h="965123" w="1293588">
                  <a:moveTo>
                    <a:pt x="36254" y="0"/>
                  </a:moveTo>
                  <a:lnTo>
                    <a:pt x="1257334" y="0"/>
                  </a:lnTo>
                  <a:cubicBezTo>
                    <a:pt x="1277356" y="0"/>
                    <a:pt x="1293588" y="16231"/>
                    <a:pt x="1293588" y="36254"/>
                  </a:cubicBezTo>
                  <a:lnTo>
                    <a:pt x="1293588" y="928869"/>
                  </a:lnTo>
                  <a:cubicBezTo>
                    <a:pt x="1293588" y="938484"/>
                    <a:pt x="1289768" y="947706"/>
                    <a:pt x="1282969" y="954505"/>
                  </a:cubicBezTo>
                  <a:cubicBezTo>
                    <a:pt x="1276170" y="961303"/>
                    <a:pt x="1266949" y="965123"/>
                    <a:pt x="1257334" y="965123"/>
                  </a:cubicBezTo>
                  <a:lnTo>
                    <a:pt x="36254" y="965123"/>
                  </a:lnTo>
                  <a:cubicBezTo>
                    <a:pt x="26639" y="965123"/>
                    <a:pt x="17417" y="961303"/>
                    <a:pt x="10619" y="954505"/>
                  </a:cubicBezTo>
                  <a:cubicBezTo>
                    <a:pt x="3820" y="947706"/>
                    <a:pt x="0" y="938484"/>
                    <a:pt x="0" y="928869"/>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14" id="14"/>
            <p:cNvSpPr txBox="true"/>
            <p:nvPr/>
          </p:nvSpPr>
          <p:spPr>
            <a:xfrm>
              <a:off x="0" y="-47625"/>
              <a:ext cx="1293588" cy="1012748"/>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7242719" y="4218133"/>
            <a:ext cx="3953358" cy="8248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News sentiment analysis using NLP.</a:t>
            </a:r>
          </a:p>
        </p:txBody>
      </p:sp>
      <p:grpSp>
        <p:nvGrpSpPr>
          <p:cNvPr name="Group 16" id="16"/>
          <p:cNvGrpSpPr/>
          <p:nvPr/>
        </p:nvGrpSpPr>
        <p:grpSpPr>
          <a:xfrm rot="0">
            <a:off x="6688204" y="6921661"/>
            <a:ext cx="4911591" cy="2336639"/>
            <a:chOff x="0" y="0"/>
            <a:chExt cx="1293588" cy="615411"/>
          </a:xfrm>
        </p:grpSpPr>
        <p:sp>
          <p:nvSpPr>
            <p:cNvPr name="Freeform 17" id="17"/>
            <p:cNvSpPr/>
            <p:nvPr/>
          </p:nvSpPr>
          <p:spPr>
            <a:xfrm flipH="false" flipV="false" rot="0">
              <a:off x="0" y="0"/>
              <a:ext cx="1293588" cy="615411"/>
            </a:xfrm>
            <a:custGeom>
              <a:avLst/>
              <a:gdLst/>
              <a:ahLst/>
              <a:cxnLst/>
              <a:rect r="r" b="b" t="t" l="l"/>
              <a:pathLst>
                <a:path h="615411" w="1293588">
                  <a:moveTo>
                    <a:pt x="36254" y="0"/>
                  </a:moveTo>
                  <a:lnTo>
                    <a:pt x="1257334" y="0"/>
                  </a:lnTo>
                  <a:cubicBezTo>
                    <a:pt x="1277356" y="0"/>
                    <a:pt x="1293588" y="16231"/>
                    <a:pt x="1293588" y="36254"/>
                  </a:cubicBezTo>
                  <a:lnTo>
                    <a:pt x="1293588" y="579157"/>
                  </a:lnTo>
                  <a:cubicBezTo>
                    <a:pt x="1293588" y="588772"/>
                    <a:pt x="1289768" y="597994"/>
                    <a:pt x="1282969" y="604793"/>
                  </a:cubicBezTo>
                  <a:cubicBezTo>
                    <a:pt x="1276170" y="611592"/>
                    <a:pt x="1266949" y="615411"/>
                    <a:pt x="1257334" y="615411"/>
                  </a:cubicBezTo>
                  <a:lnTo>
                    <a:pt x="36254" y="615411"/>
                  </a:lnTo>
                  <a:cubicBezTo>
                    <a:pt x="26639" y="615411"/>
                    <a:pt x="17417" y="611592"/>
                    <a:pt x="10619" y="604793"/>
                  </a:cubicBezTo>
                  <a:cubicBezTo>
                    <a:pt x="3820" y="597994"/>
                    <a:pt x="0" y="588772"/>
                    <a:pt x="0" y="579157"/>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18" id="18"/>
            <p:cNvSpPr txBox="true"/>
            <p:nvPr/>
          </p:nvSpPr>
          <p:spPr>
            <a:xfrm>
              <a:off x="0" y="-47625"/>
              <a:ext cx="1293588" cy="663036"/>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7113593" y="7444185"/>
            <a:ext cx="4211610" cy="8248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Real-time stock price alerts and notifications.</a:t>
            </a:r>
          </a:p>
        </p:txBody>
      </p:sp>
      <p:grpSp>
        <p:nvGrpSpPr>
          <p:cNvPr name="Group 20" id="20"/>
          <p:cNvGrpSpPr/>
          <p:nvPr/>
        </p:nvGrpSpPr>
        <p:grpSpPr>
          <a:xfrm rot="0">
            <a:off x="11942696" y="3031702"/>
            <a:ext cx="4911591" cy="3664452"/>
            <a:chOff x="0" y="0"/>
            <a:chExt cx="1293588" cy="965123"/>
          </a:xfrm>
        </p:grpSpPr>
        <p:sp>
          <p:nvSpPr>
            <p:cNvPr name="Freeform 21" id="21"/>
            <p:cNvSpPr/>
            <p:nvPr/>
          </p:nvSpPr>
          <p:spPr>
            <a:xfrm flipH="false" flipV="false" rot="0">
              <a:off x="0" y="0"/>
              <a:ext cx="1293588" cy="965123"/>
            </a:xfrm>
            <a:custGeom>
              <a:avLst/>
              <a:gdLst/>
              <a:ahLst/>
              <a:cxnLst/>
              <a:rect r="r" b="b" t="t" l="l"/>
              <a:pathLst>
                <a:path h="965123" w="1293588">
                  <a:moveTo>
                    <a:pt x="36254" y="0"/>
                  </a:moveTo>
                  <a:lnTo>
                    <a:pt x="1257334" y="0"/>
                  </a:lnTo>
                  <a:cubicBezTo>
                    <a:pt x="1277356" y="0"/>
                    <a:pt x="1293588" y="16231"/>
                    <a:pt x="1293588" y="36254"/>
                  </a:cubicBezTo>
                  <a:lnTo>
                    <a:pt x="1293588" y="928869"/>
                  </a:lnTo>
                  <a:cubicBezTo>
                    <a:pt x="1293588" y="938484"/>
                    <a:pt x="1289768" y="947706"/>
                    <a:pt x="1282969" y="954505"/>
                  </a:cubicBezTo>
                  <a:cubicBezTo>
                    <a:pt x="1276170" y="961303"/>
                    <a:pt x="1266949" y="965123"/>
                    <a:pt x="1257334" y="965123"/>
                  </a:cubicBezTo>
                  <a:lnTo>
                    <a:pt x="36254" y="965123"/>
                  </a:lnTo>
                  <a:cubicBezTo>
                    <a:pt x="26639" y="965123"/>
                    <a:pt x="17417" y="961303"/>
                    <a:pt x="10619" y="954505"/>
                  </a:cubicBezTo>
                  <a:cubicBezTo>
                    <a:pt x="3820" y="947706"/>
                    <a:pt x="0" y="938484"/>
                    <a:pt x="0" y="928869"/>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22" id="22"/>
            <p:cNvSpPr txBox="true"/>
            <p:nvPr/>
          </p:nvSpPr>
          <p:spPr>
            <a:xfrm>
              <a:off x="0" y="-47625"/>
              <a:ext cx="1293588" cy="1012748"/>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12421812" y="4218133"/>
            <a:ext cx="3953358" cy="4057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Mobile application support.</a:t>
            </a:r>
          </a:p>
        </p:txBody>
      </p:sp>
      <p:grpSp>
        <p:nvGrpSpPr>
          <p:cNvPr name="Group 24" id="24"/>
          <p:cNvGrpSpPr/>
          <p:nvPr/>
        </p:nvGrpSpPr>
        <p:grpSpPr>
          <a:xfrm rot="0">
            <a:off x="11942696" y="6921661"/>
            <a:ext cx="4911591" cy="2336639"/>
            <a:chOff x="0" y="0"/>
            <a:chExt cx="1293588" cy="615411"/>
          </a:xfrm>
        </p:grpSpPr>
        <p:sp>
          <p:nvSpPr>
            <p:cNvPr name="Freeform 25" id="25"/>
            <p:cNvSpPr/>
            <p:nvPr/>
          </p:nvSpPr>
          <p:spPr>
            <a:xfrm flipH="false" flipV="false" rot="0">
              <a:off x="0" y="0"/>
              <a:ext cx="1293588" cy="615411"/>
            </a:xfrm>
            <a:custGeom>
              <a:avLst/>
              <a:gdLst/>
              <a:ahLst/>
              <a:cxnLst/>
              <a:rect r="r" b="b" t="t" l="l"/>
              <a:pathLst>
                <a:path h="615411" w="1293588">
                  <a:moveTo>
                    <a:pt x="36254" y="0"/>
                  </a:moveTo>
                  <a:lnTo>
                    <a:pt x="1257334" y="0"/>
                  </a:lnTo>
                  <a:cubicBezTo>
                    <a:pt x="1277356" y="0"/>
                    <a:pt x="1293588" y="16231"/>
                    <a:pt x="1293588" y="36254"/>
                  </a:cubicBezTo>
                  <a:lnTo>
                    <a:pt x="1293588" y="579157"/>
                  </a:lnTo>
                  <a:cubicBezTo>
                    <a:pt x="1293588" y="588772"/>
                    <a:pt x="1289768" y="597994"/>
                    <a:pt x="1282969" y="604793"/>
                  </a:cubicBezTo>
                  <a:cubicBezTo>
                    <a:pt x="1276170" y="611592"/>
                    <a:pt x="1266949" y="615411"/>
                    <a:pt x="1257334" y="615411"/>
                  </a:cubicBezTo>
                  <a:lnTo>
                    <a:pt x="36254" y="615411"/>
                  </a:lnTo>
                  <a:cubicBezTo>
                    <a:pt x="26639" y="615411"/>
                    <a:pt x="17417" y="611592"/>
                    <a:pt x="10619" y="604793"/>
                  </a:cubicBezTo>
                  <a:cubicBezTo>
                    <a:pt x="3820" y="597994"/>
                    <a:pt x="0" y="588772"/>
                    <a:pt x="0" y="579157"/>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26" id="26"/>
            <p:cNvSpPr txBox="true"/>
            <p:nvPr/>
          </p:nvSpPr>
          <p:spPr>
            <a:xfrm>
              <a:off x="0" y="-47625"/>
              <a:ext cx="1293588" cy="663036"/>
            </a:xfrm>
            <a:prstGeom prst="rect">
              <a:avLst/>
            </a:prstGeom>
          </p:spPr>
          <p:txBody>
            <a:bodyPr anchor="ctr" rtlCol="false" tIns="50800" lIns="50800" bIns="50800" rIns="50800"/>
            <a:lstStyle/>
            <a:p>
              <a:pPr algn="ctr">
                <a:lnSpc>
                  <a:spcPts val="2659"/>
                </a:lnSpc>
                <a:spcBef>
                  <a:spcPct val="0"/>
                </a:spcBef>
              </a:pPr>
            </a:p>
          </p:txBody>
        </p:sp>
      </p:grpSp>
      <p:sp>
        <p:nvSpPr>
          <p:cNvPr name="TextBox 27" id="27"/>
          <p:cNvSpPr txBox="true"/>
          <p:nvPr/>
        </p:nvSpPr>
        <p:spPr>
          <a:xfrm rot="0">
            <a:off x="12292686" y="7444185"/>
            <a:ext cx="4211610" cy="8248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Support for multiple global stock exchanges.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TextBox 2" id="2"/>
          <p:cNvSpPr txBox="true"/>
          <p:nvPr/>
        </p:nvSpPr>
        <p:spPr>
          <a:xfrm rot="0">
            <a:off x="1028700" y="809092"/>
            <a:ext cx="4802328"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Dataset</a:t>
            </a:r>
          </a:p>
        </p:txBody>
      </p:sp>
      <p:sp>
        <p:nvSpPr>
          <p:cNvPr name="TextBox 3" id="3"/>
          <p:cNvSpPr txBox="true"/>
          <p:nvPr/>
        </p:nvSpPr>
        <p:spPr>
          <a:xfrm rot="0">
            <a:off x="1028700" y="2176024"/>
            <a:ext cx="10308881" cy="2102526"/>
          </a:xfrm>
          <a:prstGeom prst="rect">
            <a:avLst/>
          </a:prstGeom>
        </p:spPr>
        <p:txBody>
          <a:bodyPr anchor="t" rtlCol="false" tIns="0" lIns="0" bIns="0" rIns="0">
            <a:spAutoFit/>
          </a:bodyPr>
          <a:lstStyle/>
          <a:p>
            <a:pPr algn="l">
              <a:lnSpc>
                <a:spcPts val="4228"/>
              </a:lnSpc>
            </a:pPr>
            <a:r>
              <a:rPr lang="en-US" sz="3020">
                <a:solidFill>
                  <a:srgbClr val="FFFFFF"/>
                </a:solidFill>
                <a:latin typeface="TT Hoves"/>
                <a:ea typeface="TT Hoves"/>
                <a:cs typeface="TT Hoves"/>
                <a:sym typeface="TT Hoves"/>
              </a:rPr>
              <a:t>The performance of Bull Sight depends on the quality of the historical stock market data used for training and testing the Machine Learning models. The dataset consists of daily stock market records collected from reliable financial sources.</a:t>
            </a:r>
          </a:p>
        </p:txBody>
      </p:sp>
      <p:pic>
        <p:nvPicPr>
          <p:cNvPr name="Picture 4" id="4"/>
          <p:cNvPicPr>
            <a:picLocks noChangeAspect="true"/>
          </p:cNvPicPr>
          <p:nvPr/>
        </p:nvPicPr>
        <p:blipFill>
          <a:blip r:embed="rId2"/>
          <a:stretch>
            <a:fillRect/>
          </a:stretch>
        </p:blipFill>
        <p:spPr>
          <a:xfrm rot="0">
            <a:off x="10273795" y="4824928"/>
            <a:ext cx="7960523" cy="5048607"/>
          </a:xfrm>
          <a:prstGeom prst="rect">
            <a:avLst/>
          </a:prstGeom>
        </p:spPr>
      </p:pic>
      <p:grpSp>
        <p:nvGrpSpPr>
          <p:cNvPr name="Group 5" id="5"/>
          <p:cNvGrpSpPr/>
          <p:nvPr/>
        </p:nvGrpSpPr>
        <p:grpSpPr>
          <a:xfrm rot="0">
            <a:off x="1028700" y="6321546"/>
            <a:ext cx="4115314" cy="2955048"/>
            <a:chOff x="0" y="0"/>
            <a:chExt cx="1083869" cy="778284"/>
          </a:xfrm>
        </p:grpSpPr>
        <p:sp>
          <p:nvSpPr>
            <p:cNvPr name="Freeform 6" id="6"/>
            <p:cNvSpPr/>
            <p:nvPr/>
          </p:nvSpPr>
          <p:spPr>
            <a:xfrm flipH="false" flipV="false" rot="0">
              <a:off x="0" y="0"/>
              <a:ext cx="1083869" cy="778284"/>
            </a:xfrm>
            <a:custGeom>
              <a:avLst/>
              <a:gdLst/>
              <a:ahLst/>
              <a:cxnLst/>
              <a:rect r="r" b="b" t="t" l="l"/>
              <a:pathLst>
                <a:path h="778284" w="1083869">
                  <a:moveTo>
                    <a:pt x="67725" y="0"/>
                  </a:moveTo>
                  <a:lnTo>
                    <a:pt x="1016144" y="0"/>
                  </a:lnTo>
                  <a:cubicBezTo>
                    <a:pt x="1034106" y="0"/>
                    <a:pt x="1051332" y="7135"/>
                    <a:pt x="1064033" y="19836"/>
                  </a:cubicBezTo>
                  <a:cubicBezTo>
                    <a:pt x="1076734" y="32537"/>
                    <a:pt x="1083869" y="49763"/>
                    <a:pt x="1083869" y="67725"/>
                  </a:cubicBezTo>
                  <a:lnTo>
                    <a:pt x="1083869" y="710559"/>
                  </a:lnTo>
                  <a:cubicBezTo>
                    <a:pt x="1083869" y="728521"/>
                    <a:pt x="1076734" y="745747"/>
                    <a:pt x="1064033" y="758448"/>
                  </a:cubicBezTo>
                  <a:cubicBezTo>
                    <a:pt x="1051332" y="771149"/>
                    <a:pt x="1034106" y="778284"/>
                    <a:pt x="1016144" y="778284"/>
                  </a:cubicBezTo>
                  <a:lnTo>
                    <a:pt x="67725" y="778284"/>
                  </a:lnTo>
                  <a:cubicBezTo>
                    <a:pt x="49763" y="778284"/>
                    <a:pt x="32537" y="771149"/>
                    <a:pt x="19836" y="758448"/>
                  </a:cubicBezTo>
                  <a:cubicBezTo>
                    <a:pt x="7135" y="745747"/>
                    <a:pt x="0" y="728521"/>
                    <a:pt x="0" y="710559"/>
                  </a:cubicBezTo>
                  <a:lnTo>
                    <a:pt x="0" y="67725"/>
                  </a:lnTo>
                  <a:cubicBezTo>
                    <a:pt x="0" y="49763"/>
                    <a:pt x="7135" y="32537"/>
                    <a:pt x="19836" y="19836"/>
                  </a:cubicBezTo>
                  <a:cubicBezTo>
                    <a:pt x="32537" y="7135"/>
                    <a:pt x="49763" y="0"/>
                    <a:pt x="67725" y="0"/>
                  </a:cubicBezTo>
                  <a:close/>
                </a:path>
              </a:pathLst>
            </a:custGeom>
            <a:solidFill>
              <a:srgbClr val="33CD91">
                <a:alpha val="28627"/>
              </a:srgbClr>
            </a:solidFill>
            <a:ln w="47625" cap="rnd">
              <a:solidFill>
                <a:srgbClr val="BEC2C7">
                  <a:alpha val="28627"/>
                </a:srgbClr>
              </a:solidFill>
              <a:prstDash val="solid"/>
              <a:round/>
            </a:ln>
          </p:spPr>
        </p:sp>
        <p:sp>
          <p:nvSpPr>
            <p:cNvPr name="TextBox 7" id="7"/>
            <p:cNvSpPr txBox="true"/>
            <p:nvPr/>
          </p:nvSpPr>
          <p:spPr>
            <a:xfrm>
              <a:off x="0" y="-47625"/>
              <a:ext cx="1083869" cy="825909"/>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573622" y="6971030"/>
            <a:ext cx="3025470" cy="1998980"/>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FFFFFF"/>
                </a:solidFill>
                <a:latin typeface="TT Hoves"/>
                <a:ea typeface="TT Hoves"/>
                <a:cs typeface="TT Hoves"/>
                <a:sym typeface="TT Hoves"/>
              </a:rPr>
              <a:t>Yahoo Finance (yfinance API)</a:t>
            </a:r>
          </a:p>
          <a:p>
            <a:pPr algn="l" marL="496569" indent="-248284" lvl="1">
              <a:lnSpc>
                <a:spcPts val="3219"/>
              </a:lnSpc>
              <a:buFont typeface="Arial"/>
              <a:buChar char="•"/>
            </a:pPr>
            <a:r>
              <a:rPr lang="en-US" sz="2299">
                <a:solidFill>
                  <a:srgbClr val="FFFFFF"/>
                </a:solidFill>
                <a:latin typeface="TT Hoves"/>
                <a:ea typeface="TT Hoves"/>
                <a:cs typeface="TT Hoves"/>
                <a:sym typeface="TT Hoves"/>
              </a:rPr>
              <a:t>Kaggle Stock Market Datasets</a:t>
            </a:r>
          </a:p>
          <a:p>
            <a:pPr algn="l">
              <a:lnSpc>
                <a:spcPts val="3219"/>
              </a:lnSpc>
            </a:pPr>
          </a:p>
        </p:txBody>
      </p:sp>
      <p:sp>
        <p:nvSpPr>
          <p:cNvPr name="TextBox 9" id="9"/>
          <p:cNvSpPr txBox="true"/>
          <p:nvPr/>
        </p:nvSpPr>
        <p:spPr>
          <a:xfrm rot="0">
            <a:off x="1573622" y="6485530"/>
            <a:ext cx="3025470" cy="405765"/>
          </a:xfrm>
          <a:prstGeom prst="rect">
            <a:avLst/>
          </a:prstGeom>
        </p:spPr>
        <p:txBody>
          <a:bodyPr anchor="t" rtlCol="false" tIns="0" lIns="0" bIns="0" rIns="0">
            <a:spAutoFit/>
          </a:bodyPr>
          <a:lstStyle/>
          <a:p>
            <a:pPr algn="l">
              <a:lnSpc>
                <a:spcPts val="3359"/>
              </a:lnSpc>
            </a:pPr>
            <a:r>
              <a:rPr lang="en-US" sz="2399">
                <a:solidFill>
                  <a:srgbClr val="75FF82"/>
                </a:solidFill>
                <a:latin typeface="TT Hoves"/>
                <a:ea typeface="TT Hoves"/>
                <a:cs typeface="TT Hoves"/>
                <a:sym typeface="TT Hoves"/>
              </a:rPr>
              <a:t>Dataset Source</a:t>
            </a:r>
          </a:p>
        </p:txBody>
      </p:sp>
      <p:grpSp>
        <p:nvGrpSpPr>
          <p:cNvPr name="Group 10" id="10"/>
          <p:cNvGrpSpPr/>
          <p:nvPr/>
        </p:nvGrpSpPr>
        <p:grpSpPr>
          <a:xfrm rot="0">
            <a:off x="5516950" y="6303252"/>
            <a:ext cx="4115314" cy="2955048"/>
            <a:chOff x="0" y="0"/>
            <a:chExt cx="1083869" cy="778284"/>
          </a:xfrm>
        </p:grpSpPr>
        <p:sp>
          <p:nvSpPr>
            <p:cNvPr name="Freeform 11" id="11"/>
            <p:cNvSpPr/>
            <p:nvPr/>
          </p:nvSpPr>
          <p:spPr>
            <a:xfrm flipH="false" flipV="false" rot="0">
              <a:off x="0" y="0"/>
              <a:ext cx="1083869" cy="778284"/>
            </a:xfrm>
            <a:custGeom>
              <a:avLst/>
              <a:gdLst/>
              <a:ahLst/>
              <a:cxnLst/>
              <a:rect r="r" b="b" t="t" l="l"/>
              <a:pathLst>
                <a:path h="778284" w="1083869">
                  <a:moveTo>
                    <a:pt x="67725" y="0"/>
                  </a:moveTo>
                  <a:lnTo>
                    <a:pt x="1016144" y="0"/>
                  </a:lnTo>
                  <a:cubicBezTo>
                    <a:pt x="1034106" y="0"/>
                    <a:pt x="1051332" y="7135"/>
                    <a:pt x="1064033" y="19836"/>
                  </a:cubicBezTo>
                  <a:cubicBezTo>
                    <a:pt x="1076734" y="32537"/>
                    <a:pt x="1083869" y="49763"/>
                    <a:pt x="1083869" y="67725"/>
                  </a:cubicBezTo>
                  <a:lnTo>
                    <a:pt x="1083869" y="710559"/>
                  </a:lnTo>
                  <a:cubicBezTo>
                    <a:pt x="1083869" y="728521"/>
                    <a:pt x="1076734" y="745747"/>
                    <a:pt x="1064033" y="758448"/>
                  </a:cubicBezTo>
                  <a:cubicBezTo>
                    <a:pt x="1051332" y="771149"/>
                    <a:pt x="1034106" y="778284"/>
                    <a:pt x="1016144" y="778284"/>
                  </a:cubicBezTo>
                  <a:lnTo>
                    <a:pt x="67725" y="778284"/>
                  </a:lnTo>
                  <a:cubicBezTo>
                    <a:pt x="49763" y="778284"/>
                    <a:pt x="32537" y="771149"/>
                    <a:pt x="19836" y="758448"/>
                  </a:cubicBezTo>
                  <a:cubicBezTo>
                    <a:pt x="7135" y="745747"/>
                    <a:pt x="0" y="728521"/>
                    <a:pt x="0" y="710559"/>
                  </a:cubicBezTo>
                  <a:lnTo>
                    <a:pt x="0" y="67725"/>
                  </a:lnTo>
                  <a:cubicBezTo>
                    <a:pt x="0" y="49763"/>
                    <a:pt x="7135" y="32537"/>
                    <a:pt x="19836" y="19836"/>
                  </a:cubicBezTo>
                  <a:cubicBezTo>
                    <a:pt x="32537" y="7135"/>
                    <a:pt x="49763" y="0"/>
                    <a:pt x="67725" y="0"/>
                  </a:cubicBezTo>
                  <a:close/>
                </a:path>
              </a:pathLst>
            </a:custGeom>
            <a:ln w="47625" cap="rnd">
              <a:solidFill>
                <a:srgbClr val="BEC2C7">
                  <a:alpha val="28627"/>
                </a:srgbClr>
              </a:solidFill>
              <a:prstDash val="solid"/>
              <a:round/>
            </a:ln>
          </p:spPr>
        </p:sp>
        <p:sp>
          <p:nvSpPr>
            <p:cNvPr name="TextBox 12" id="12"/>
            <p:cNvSpPr txBox="true"/>
            <p:nvPr/>
          </p:nvSpPr>
          <p:spPr>
            <a:xfrm>
              <a:off x="0" y="-47625"/>
              <a:ext cx="1083869" cy="825909"/>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5811357" y="6971030"/>
            <a:ext cx="3526501" cy="1598930"/>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FFFFFF"/>
                </a:solidFill>
                <a:latin typeface="TT Hoves"/>
                <a:ea typeface="TT Hoves"/>
                <a:cs typeface="TT Hoves"/>
                <a:sym typeface="TT Hoves"/>
              </a:rPr>
              <a:t>Trend Analysis</a:t>
            </a:r>
          </a:p>
          <a:p>
            <a:pPr algn="l" marL="496569" indent="-248284" lvl="1">
              <a:lnSpc>
                <a:spcPts val="3219"/>
              </a:lnSpc>
              <a:buFont typeface="Arial"/>
              <a:buChar char="•"/>
            </a:pPr>
            <a:r>
              <a:rPr lang="en-US" sz="2299">
                <a:solidFill>
                  <a:srgbClr val="FFFFFF"/>
                </a:solidFill>
                <a:latin typeface="TT Hoves"/>
                <a:ea typeface="TT Hoves"/>
                <a:cs typeface="TT Hoves"/>
                <a:sym typeface="TT Hoves"/>
              </a:rPr>
              <a:t>Data Preprocessing</a:t>
            </a:r>
          </a:p>
          <a:p>
            <a:pPr algn="l" marL="496569" indent="-248284" lvl="1">
              <a:lnSpc>
                <a:spcPts val="3219"/>
              </a:lnSpc>
              <a:buFont typeface="Arial"/>
              <a:buChar char="•"/>
            </a:pPr>
            <a:r>
              <a:rPr lang="en-US" sz="2299">
                <a:solidFill>
                  <a:srgbClr val="FFFFFF"/>
                </a:solidFill>
                <a:latin typeface="TT Hoves"/>
                <a:ea typeface="TT Hoves"/>
                <a:cs typeface="TT Hoves"/>
                <a:sym typeface="TT Hoves"/>
              </a:rPr>
              <a:t>Machine Learning Model Training</a:t>
            </a:r>
          </a:p>
        </p:txBody>
      </p:sp>
      <p:sp>
        <p:nvSpPr>
          <p:cNvPr name="TextBox 14" id="14"/>
          <p:cNvSpPr txBox="true"/>
          <p:nvPr/>
        </p:nvSpPr>
        <p:spPr>
          <a:xfrm rot="0">
            <a:off x="5831028" y="6485530"/>
            <a:ext cx="3900309" cy="405765"/>
          </a:xfrm>
          <a:prstGeom prst="rect">
            <a:avLst/>
          </a:prstGeom>
        </p:spPr>
        <p:txBody>
          <a:bodyPr anchor="t" rtlCol="false" tIns="0" lIns="0" bIns="0" rIns="0">
            <a:spAutoFit/>
          </a:bodyPr>
          <a:lstStyle/>
          <a:p>
            <a:pPr algn="l">
              <a:lnSpc>
                <a:spcPts val="3359"/>
              </a:lnSpc>
            </a:pPr>
            <a:r>
              <a:rPr lang="en-US" sz="2399">
                <a:solidFill>
                  <a:srgbClr val="75FF82"/>
                </a:solidFill>
                <a:latin typeface="TT Hoves"/>
                <a:ea typeface="TT Hoves"/>
                <a:cs typeface="TT Hoves"/>
                <a:sym typeface="TT Hoves"/>
              </a:rPr>
              <a:t>Data Used For</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141A1F"/>
        </a:solidFill>
      </p:bgPr>
    </p:bg>
    <p:spTree>
      <p:nvGrpSpPr>
        <p:cNvPr id="1" name=""/>
        <p:cNvGrpSpPr/>
        <p:nvPr/>
      </p:nvGrpSpPr>
      <p:grpSpPr>
        <a:xfrm>
          <a:off x="0" y="0"/>
          <a:ext cx="0" cy="0"/>
          <a:chOff x="0" y="0"/>
          <a:chExt cx="0" cy="0"/>
        </a:xfrm>
      </p:grpSpPr>
      <p:sp>
        <p:nvSpPr>
          <p:cNvPr name="TextBox 2" id="2"/>
          <p:cNvSpPr txBox="true"/>
          <p:nvPr/>
        </p:nvSpPr>
        <p:spPr>
          <a:xfrm rot="0">
            <a:off x="1028700" y="914400"/>
            <a:ext cx="7279491"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Data Preprocessing</a:t>
            </a:r>
          </a:p>
        </p:txBody>
      </p:sp>
      <p:grpSp>
        <p:nvGrpSpPr>
          <p:cNvPr name="Group 3" id="3"/>
          <p:cNvGrpSpPr/>
          <p:nvPr/>
        </p:nvGrpSpPr>
        <p:grpSpPr>
          <a:xfrm rot="0">
            <a:off x="9144000" y="2860841"/>
            <a:ext cx="8115300" cy="8011533"/>
            <a:chOff x="0" y="0"/>
            <a:chExt cx="2137363" cy="2110033"/>
          </a:xfrm>
        </p:grpSpPr>
        <p:sp>
          <p:nvSpPr>
            <p:cNvPr name="Freeform 4" id="4"/>
            <p:cNvSpPr/>
            <p:nvPr/>
          </p:nvSpPr>
          <p:spPr>
            <a:xfrm flipH="false" flipV="false" rot="0">
              <a:off x="0" y="0"/>
              <a:ext cx="2137363" cy="2110033"/>
            </a:xfrm>
            <a:custGeom>
              <a:avLst/>
              <a:gdLst/>
              <a:ahLst/>
              <a:cxnLst/>
              <a:rect r="r" b="b" t="t" l="l"/>
              <a:pathLst>
                <a:path h="2110033" w="2137363">
                  <a:moveTo>
                    <a:pt x="34344" y="0"/>
                  </a:moveTo>
                  <a:lnTo>
                    <a:pt x="2103019" y="0"/>
                  </a:lnTo>
                  <a:cubicBezTo>
                    <a:pt x="2112128" y="0"/>
                    <a:pt x="2120863" y="3618"/>
                    <a:pt x="2127304" y="10059"/>
                  </a:cubicBezTo>
                  <a:cubicBezTo>
                    <a:pt x="2133745" y="16500"/>
                    <a:pt x="2137363" y="25235"/>
                    <a:pt x="2137363" y="34344"/>
                  </a:cubicBezTo>
                  <a:lnTo>
                    <a:pt x="2137363" y="2075690"/>
                  </a:lnTo>
                  <a:cubicBezTo>
                    <a:pt x="2137363" y="2084798"/>
                    <a:pt x="2133745" y="2093534"/>
                    <a:pt x="2127304" y="2099974"/>
                  </a:cubicBezTo>
                  <a:cubicBezTo>
                    <a:pt x="2120863" y="2106415"/>
                    <a:pt x="2112128" y="2110033"/>
                    <a:pt x="2103019" y="2110033"/>
                  </a:cubicBezTo>
                  <a:lnTo>
                    <a:pt x="34344" y="2110033"/>
                  </a:lnTo>
                  <a:cubicBezTo>
                    <a:pt x="25235" y="2110033"/>
                    <a:pt x="16500" y="2106415"/>
                    <a:pt x="10059" y="2099974"/>
                  </a:cubicBezTo>
                  <a:cubicBezTo>
                    <a:pt x="3618" y="2093534"/>
                    <a:pt x="0" y="2084798"/>
                    <a:pt x="0" y="2075690"/>
                  </a:cubicBezTo>
                  <a:lnTo>
                    <a:pt x="0" y="34344"/>
                  </a:lnTo>
                  <a:cubicBezTo>
                    <a:pt x="0" y="25235"/>
                    <a:pt x="3618" y="16500"/>
                    <a:pt x="10059" y="10059"/>
                  </a:cubicBezTo>
                  <a:cubicBezTo>
                    <a:pt x="16500" y="3618"/>
                    <a:pt x="25235" y="0"/>
                    <a:pt x="34344" y="0"/>
                  </a:cubicBezTo>
                  <a:close/>
                </a:path>
              </a:pathLst>
            </a:custGeom>
            <a:gradFill rotWithShape="true">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name="TextBox 5" id="5"/>
            <p:cNvSpPr txBox="true"/>
            <p:nvPr/>
          </p:nvSpPr>
          <p:spPr>
            <a:xfrm>
              <a:off x="0" y="-47625"/>
              <a:ext cx="2137363" cy="215765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9823922" y="5197113"/>
            <a:ext cx="2858003"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Data Cleaning</a:t>
            </a:r>
          </a:p>
        </p:txBody>
      </p:sp>
      <p:sp>
        <p:nvSpPr>
          <p:cNvPr name="TextBox 7" id="7"/>
          <p:cNvSpPr txBox="true"/>
          <p:nvPr/>
        </p:nvSpPr>
        <p:spPr>
          <a:xfrm rot="0">
            <a:off x="9823922" y="5741181"/>
            <a:ext cx="2858003"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Feature Selection</a:t>
            </a:r>
          </a:p>
        </p:txBody>
      </p:sp>
      <p:sp>
        <p:nvSpPr>
          <p:cNvPr name="TextBox 8" id="8"/>
          <p:cNvSpPr txBox="true"/>
          <p:nvPr/>
        </p:nvSpPr>
        <p:spPr>
          <a:xfrm rot="0">
            <a:off x="1071809" y="2242354"/>
            <a:ext cx="7564885" cy="2476492"/>
          </a:xfrm>
          <a:prstGeom prst="rect">
            <a:avLst/>
          </a:prstGeom>
        </p:spPr>
        <p:txBody>
          <a:bodyPr anchor="t" rtlCol="false" tIns="0" lIns="0" bIns="0" rIns="0">
            <a:spAutoFit/>
          </a:bodyPr>
          <a:lstStyle/>
          <a:p>
            <a:pPr algn="l">
              <a:lnSpc>
                <a:spcPts val="3326"/>
              </a:lnSpc>
            </a:pPr>
            <a:r>
              <a:rPr lang="en-US" sz="2375">
                <a:solidFill>
                  <a:srgbClr val="FFFFFF"/>
                </a:solidFill>
                <a:latin typeface="TT Hoves"/>
                <a:ea typeface="TT Hoves"/>
                <a:cs typeface="TT Hoves"/>
                <a:sym typeface="TT Hoves"/>
              </a:rPr>
              <a:t>Data preprocessing is a crucial step in developing an accurate stock price prediction model. Raw stock market data often contains missing values, inconsistencies, and noise that can affect the performance of Machine Learning models. Therefore, the data is cleaned and transformed before training.</a:t>
            </a:r>
          </a:p>
        </p:txBody>
      </p:sp>
      <p:sp>
        <p:nvSpPr>
          <p:cNvPr name="TextBox 9" id="9"/>
          <p:cNvSpPr txBox="true"/>
          <p:nvPr/>
        </p:nvSpPr>
        <p:spPr>
          <a:xfrm rot="0">
            <a:off x="9823922" y="3868375"/>
            <a:ext cx="4584785" cy="811530"/>
          </a:xfrm>
          <a:prstGeom prst="rect">
            <a:avLst/>
          </a:prstGeom>
        </p:spPr>
        <p:txBody>
          <a:bodyPr anchor="t" rtlCol="false" tIns="0" lIns="0" bIns="0" rIns="0">
            <a:spAutoFit/>
          </a:bodyPr>
          <a:lstStyle/>
          <a:p>
            <a:pPr algn="l">
              <a:lnSpc>
                <a:spcPts val="6719"/>
              </a:lnSpc>
            </a:pPr>
            <a:r>
              <a:rPr lang="en-US" sz="4800">
                <a:solidFill>
                  <a:srgbClr val="FFFFFF"/>
                </a:solidFill>
                <a:latin typeface="TT Hoves"/>
                <a:ea typeface="TT Hoves"/>
                <a:cs typeface="TT Hoves"/>
                <a:sym typeface="TT Hoves"/>
              </a:rPr>
              <a:t>Steps Involved</a:t>
            </a:r>
          </a:p>
        </p:txBody>
      </p:sp>
      <p:sp>
        <p:nvSpPr>
          <p:cNvPr name="TextBox 10" id="10"/>
          <p:cNvSpPr txBox="true"/>
          <p:nvPr/>
        </p:nvSpPr>
        <p:spPr>
          <a:xfrm rot="0">
            <a:off x="9823922" y="6287916"/>
            <a:ext cx="2858003"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Data Normalization</a:t>
            </a:r>
          </a:p>
        </p:txBody>
      </p:sp>
      <p:sp>
        <p:nvSpPr>
          <p:cNvPr name="TextBox 11" id="11"/>
          <p:cNvSpPr txBox="true"/>
          <p:nvPr/>
        </p:nvSpPr>
        <p:spPr>
          <a:xfrm rot="0">
            <a:off x="9823922" y="6834651"/>
            <a:ext cx="2858003"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Date Formatting</a:t>
            </a:r>
          </a:p>
        </p:txBody>
      </p:sp>
      <p:sp>
        <p:nvSpPr>
          <p:cNvPr name="TextBox 12" id="12"/>
          <p:cNvSpPr txBox="true"/>
          <p:nvPr/>
        </p:nvSpPr>
        <p:spPr>
          <a:xfrm rot="0">
            <a:off x="9823922" y="7381386"/>
            <a:ext cx="3863410"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Technical Indicator Generation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grpSp>
        <p:nvGrpSpPr>
          <p:cNvPr name="Group 2" id="2"/>
          <p:cNvGrpSpPr/>
          <p:nvPr/>
        </p:nvGrpSpPr>
        <p:grpSpPr>
          <a:xfrm rot="0">
            <a:off x="1670965" y="3528065"/>
            <a:ext cx="14902960" cy="8387676"/>
            <a:chOff x="0" y="0"/>
            <a:chExt cx="3925059" cy="2209100"/>
          </a:xfrm>
        </p:grpSpPr>
        <p:sp>
          <p:nvSpPr>
            <p:cNvPr name="Freeform 3" id="3"/>
            <p:cNvSpPr/>
            <p:nvPr/>
          </p:nvSpPr>
          <p:spPr>
            <a:xfrm flipH="false" flipV="false" rot="0">
              <a:off x="0" y="0"/>
              <a:ext cx="3925059" cy="2209100"/>
            </a:xfrm>
            <a:custGeom>
              <a:avLst/>
              <a:gdLst/>
              <a:ahLst/>
              <a:cxnLst/>
              <a:rect r="r" b="b" t="t" l="l"/>
              <a:pathLst>
                <a:path h="2209100" w="3925059">
                  <a:moveTo>
                    <a:pt x="18702" y="0"/>
                  </a:moveTo>
                  <a:lnTo>
                    <a:pt x="3906358" y="0"/>
                  </a:lnTo>
                  <a:cubicBezTo>
                    <a:pt x="3911317" y="0"/>
                    <a:pt x="3916075" y="1970"/>
                    <a:pt x="3919582" y="5478"/>
                  </a:cubicBezTo>
                  <a:cubicBezTo>
                    <a:pt x="3923089" y="8985"/>
                    <a:pt x="3925059" y="13742"/>
                    <a:pt x="3925059" y="18702"/>
                  </a:cubicBezTo>
                  <a:lnTo>
                    <a:pt x="3925059" y="2190398"/>
                  </a:lnTo>
                  <a:cubicBezTo>
                    <a:pt x="3925059" y="2200727"/>
                    <a:pt x="3916686" y="2209100"/>
                    <a:pt x="3906358" y="2209100"/>
                  </a:cubicBezTo>
                  <a:lnTo>
                    <a:pt x="18702" y="2209100"/>
                  </a:lnTo>
                  <a:cubicBezTo>
                    <a:pt x="8373" y="2209100"/>
                    <a:pt x="0" y="2200727"/>
                    <a:pt x="0" y="2190398"/>
                  </a:cubicBezTo>
                  <a:lnTo>
                    <a:pt x="0" y="18702"/>
                  </a:lnTo>
                  <a:cubicBezTo>
                    <a:pt x="0" y="8373"/>
                    <a:pt x="8373" y="0"/>
                    <a:pt x="18702" y="0"/>
                  </a:cubicBezTo>
                  <a:close/>
                </a:path>
              </a:pathLst>
            </a:custGeom>
            <a:gradFill rotWithShape="true">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name="TextBox 4" id="4"/>
            <p:cNvSpPr txBox="true"/>
            <p:nvPr/>
          </p:nvSpPr>
          <p:spPr>
            <a:xfrm>
              <a:off x="0" y="-47625"/>
              <a:ext cx="3925059" cy="225672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812566" y="3802561"/>
            <a:ext cx="10662868" cy="6348611"/>
          </a:xfrm>
          <a:custGeom>
            <a:avLst/>
            <a:gdLst/>
            <a:ahLst/>
            <a:cxnLst/>
            <a:rect r="r" b="b" t="t" l="l"/>
            <a:pathLst>
              <a:path h="6348611" w="10662868">
                <a:moveTo>
                  <a:pt x="0" y="0"/>
                </a:moveTo>
                <a:lnTo>
                  <a:pt x="10662868" y="0"/>
                </a:lnTo>
                <a:lnTo>
                  <a:pt x="10662868" y="6348611"/>
                </a:lnTo>
                <a:lnTo>
                  <a:pt x="0" y="6348611"/>
                </a:lnTo>
                <a:lnTo>
                  <a:pt x="0" y="0"/>
                </a:lnTo>
                <a:close/>
              </a:path>
            </a:pathLst>
          </a:custGeom>
          <a:blipFill>
            <a:blip r:embed="rId2"/>
            <a:stretch>
              <a:fillRect l="0" t="-11970" r="0" b="0"/>
            </a:stretch>
          </a:blipFill>
        </p:spPr>
      </p:sp>
      <p:sp>
        <p:nvSpPr>
          <p:cNvPr name="TextBox 6" id="6"/>
          <p:cNvSpPr txBox="true"/>
          <p:nvPr/>
        </p:nvSpPr>
        <p:spPr>
          <a:xfrm rot="0">
            <a:off x="1028700" y="461962"/>
            <a:ext cx="7279491"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Data Flow Diagram</a:t>
            </a:r>
          </a:p>
        </p:txBody>
      </p:sp>
      <p:sp>
        <p:nvSpPr>
          <p:cNvPr name="TextBox 7" id="7"/>
          <p:cNvSpPr txBox="true"/>
          <p:nvPr/>
        </p:nvSpPr>
        <p:spPr>
          <a:xfrm rot="0">
            <a:off x="1028700" y="1609751"/>
            <a:ext cx="16187491" cy="861039"/>
          </a:xfrm>
          <a:prstGeom prst="rect">
            <a:avLst/>
          </a:prstGeom>
        </p:spPr>
        <p:txBody>
          <a:bodyPr anchor="t" rtlCol="false" tIns="0" lIns="0" bIns="0" rIns="0">
            <a:spAutoFit/>
          </a:bodyPr>
          <a:lstStyle/>
          <a:p>
            <a:pPr algn="l">
              <a:lnSpc>
                <a:spcPts val="3466"/>
              </a:lnSpc>
            </a:pPr>
            <a:r>
              <a:rPr lang="en-US" sz="2475">
                <a:solidFill>
                  <a:srgbClr val="FFFFFF"/>
                </a:solidFill>
                <a:latin typeface="TT Hoves"/>
                <a:ea typeface="TT Hoves"/>
                <a:cs typeface="TT Hoves"/>
                <a:sym typeface="TT Hoves"/>
              </a:rPr>
              <a:t>The Data Flow Diagram (DFD) illustrates how data moves through the Bull Sight system—from collecting historical stock market data to generating predictions and investment recommendations.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6397822"/>
            <a:ext cx="4491243" cy="1812829"/>
          </a:xfrm>
          <a:custGeom>
            <a:avLst/>
            <a:gdLst/>
            <a:ahLst/>
            <a:cxnLst/>
            <a:rect r="r" b="b" t="t" l="l"/>
            <a:pathLst>
              <a:path h="1812829" w="4491243">
                <a:moveTo>
                  <a:pt x="0" y="0"/>
                </a:moveTo>
                <a:lnTo>
                  <a:pt x="4491243" y="0"/>
                </a:lnTo>
                <a:lnTo>
                  <a:pt x="4491243" y="1812829"/>
                </a:lnTo>
                <a:lnTo>
                  <a:pt x="0" y="18128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489905"/>
            <a:ext cx="5469601" cy="904970"/>
          </a:xfrm>
          <a:custGeom>
            <a:avLst/>
            <a:gdLst/>
            <a:ahLst/>
            <a:cxnLst/>
            <a:rect r="r" b="b" t="t" l="l"/>
            <a:pathLst>
              <a:path h="904970" w="5469601">
                <a:moveTo>
                  <a:pt x="0" y="0"/>
                </a:moveTo>
                <a:lnTo>
                  <a:pt x="5469601" y="0"/>
                </a:lnTo>
                <a:lnTo>
                  <a:pt x="5469601" y="904970"/>
                </a:lnTo>
                <a:lnTo>
                  <a:pt x="0" y="9049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07067">
            <a:off x="14985558" y="-2789491"/>
            <a:ext cx="7042553" cy="7042553"/>
          </a:xfrm>
          <a:custGeom>
            <a:avLst/>
            <a:gdLst/>
            <a:ahLst/>
            <a:cxnLst/>
            <a:rect r="r" b="b" t="t" l="l"/>
            <a:pathLst>
              <a:path h="7042553" w="7042553">
                <a:moveTo>
                  <a:pt x="0" y="0"/>
                </a:moveTo>
                <a:lnTo>
                  <a:pt x="7042553" y="0"/>
                </a:lnTo>
                <a:lnTo>
                  <a:pt x="7042553" y="7042553"/>
                </a:lnTo>
                <a:lnTo>
                  <a:pt x="0" y="70425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617486"/>
            <a:ext cx="8803590"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Machine Learning Models</a:t>
            </a:r>
          </a:p>
        </p:txBody>
      </p:sp>
      <p:sp>
        <p:nvSpPr>
          <p:cNvPr name="TextBox 6" id="6"/>
          <p:cNvSpPr txBox="true"/>
          <p:nvPr/>
        </p:nvSpPr>
        <p:spPr>
          <a:xfrm rot="0">
            <a:off x="1028700" y="2198566"/>
            <a:ext cx="7089524" cy="2174875"/>
          </a:xfrm>
          <a:prstGeom prst="rect">
            <a:avLst/>
          </a:prstGeom>
        </p:spPr>
        <p:txBody>
          <a:bodyPr anchor="t" rtlCol="false" tIns="0" lIns="0" bIns="0" rIns="0">
            <a:spAutoFit/>
          </a:bodyPr>
          <a:lstStyle/>
          <a:p>
            <a:pPr algn="l">
              <a:lnSpc>
                <a:spcPts val="3499"/>
              </a:lnSpc>
            </a:pPr>
            <a:r>
              <a:rPr lang="en-US" sz="2499">
                <a:solidFill>
                  <a:srgbClr val="FFFFFF"/>
                </a:solidFill>
                <a:latin typeface="TT Hoves"/>
                <a:ea typeface="TT Hoves"/>
                <a:cs typeface="TT Hoves"/>
                <a:sym typeface="TT Hoves"/>
              </a:rPr>
              <a:t>Bull Sight uses Machine Learning algorithms to identify patterns in historical stock market data and predict future stock prices. Different models are trained and evaluated to determine which one provides the most accurate predictions.</a:t>
            </a:r>
          </a:p>
        </p:txBody>
      </p:sp>
      <p:sp>
        <p:nvSpPr>
          <p:cNvPr name="TextBox 7" id="7"/>
          <p:cNvSpPr txBox="true"/>
          <p:nvPr/>
        </p:nvSpPr>
        <p:spPr>
          <a:xfrm rot="0">
            <a:off x="8642099" y="4434037"/>
            <a:ext cx="3953358" cy="2223135"/>
          </a:xfrm>
          <a:prstGeom prst="rect">
            <a:avLst/>
          </a:prstGeom>
        </p:spPr>
        <p:txBody>
          <a:bodyPr anchor="t" rtlCol="false" tIns="0" lIns="0" bIns="0" rIns="0">
            <a:spAutoFit/>
          </a:bodyPr>
          <a:lstStyle/>
          <a:p>
            <a:pPr algn="l">
              <a:lnSpc>
                <a:spcPts val="2940"/>
              </a:lnSpc>
            </a:pPr>
            <a:r>
              <a:rPr lang="en-US" sz="2100">
                <a:solidFill>
                  <a:srgbClr val="FFFFFF"/>
                </a:solidFill>
                <a:latin typeface="TT Hoves"/>
                <a:ea typeface="TT Hoves"/>
                <a:cs typeface="TT Hoves"/>
                <a:sym typeface="TT Hoves"/>
              </a:rPr>
              <a:t>A simple predictive model that establishes a linear relationship between historical stock data and future prices. It serves as a baseline model for performance comparison.</a:t>
            </a:r>
          </a:p>
        </p:txBody>
      </p:sp>
      <p:sp>
        <p:nvSpPr>
          <p:cNvPr name="TextBox 8" id="8"/>
          <p:cNvSpPr txBox="true"/>
          <p:nvPr/>
        </p:nvSpPr>
        <p:spPr>
          <a:xfrm rot="0">
            <a:off x="8639804" y="3887302"/>
            <a:ext cx="3953358"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Linear Regression</a:t>
            </a:r>
          </a:p>
        </p:txBody>
      </p:sp>
      <p:sp>
        <p:nvSpPr>
          <p:cNvPr name="TextBox 9" id="9"/>
          <p:cNvSpPr txBox="true"/>
          <p:nvPr/>
        </p:nvSpPr>
        <p:spPr>
          <a:xfrm rot="0">
            <a:off x="13114742" y="4434037"/>
            <a:ext cx="3953358" cy="1480185"/>
          </a:xfrm>
          <a:prstGeom prst="rect">
            <a:avLst/>
          </a:prstGeom>
        </p:spPr>
        <p:txBody>
          <a:bodyPr anchor="t" rtlCol="false" tIns="0" lIns="0" bIns="0" rIns="0">
            <a:spAutoFit/>
          </a:bodyPr>
          <a:lstStyle/>
          <a:p>
            <a:pPr algn="l">
              <a:lnSpc>
                <a:spcPts val="2940"/>
              </a:lnSpc>
            </a:pPr>
            <a:r>
              <a:rPr lang="en-US" sz="2100">
                <a:solidFill>
                  <a:srgbClr val="FFFFFF"/>
                </a:solidFill>
                <a:latin typeface="TT Hoves"/>
                <a:ea typeface="TT Hoves"/>
                <a:cs typeface="TT Hoves"/>
                <a:sym typeface="TT Hoves"/>
              </a:rPr>
              <a:t>An ensemble learning algorithm that combines multiple decision trees to improve prediction accuracy and reduce overfitting.</a:t>
            </a:r>
          </a:p>
        </p:txBody>
      </p:sp>
      <p:sp>
        <p:nvSpPr>
          <p:cNvPr name="TextBox 10" id="10"/>
          <p:cNvSpPr txBox="true"/>
          <p:nvPr/>
        </p:nvSpPr>
        <p:spPr>
          <a:xfrm rot="0">
            <a:off x="13114742" y="3891070"/>
            <a:ext cx="3953358"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Random Forest</a:t>
            </a:r>
          </a:p>
        </p:txBody>
      </p:sp>
      <p:sp>
        <p:nvSpPr>
          <p:cNvPr name="TextBox 11" id="11"/>
          <p:cNvSpPr txBox="true"/>
          <p:nvPr/>
        </p:nvSpPr>
        <p:spPr>
          <a:xfrm rot="0">
            <a:off x="8642099" y="7406640"/>
            <a:ext cx="3953358" cy="1480185"/>
          </a:xfrm>
          <a:prstGeom prst="rect">
            <a:avLst/>
          </a:prstGeom>
        </p:spPr>
        <p:txBody>
          <a:bodyPr anchor="t" rtlCol="false" tIns="0" lIns="0" bIns="0" rIns="0">
            <a:spAutoFit/>
          </a:bodyPr>
          <a:lstStyle/>
          <a:p>
            <a:pPr algn="l">
              <a:lnSpc>
                <a:spcPts val="2940"/>
              </a:lnSpc>
            </a:pPr>
            <a:r>
              <a:rPr lang="en-US" sz="2100">
                <a:solidFill>
                  <a:srgbClr val="FFFFFF"/>
                </a:solidFill>
                <a:latin typeface="TT Hoves"/>
                <a:ea typeface="TT Hoves"/>
                <a:cs typeface="TT Hoves"/>
                <a:sym typeface="TT Hoves"/>
              </a:rPr>
              <a:t>A gradient boosting algorithm known for its high speed and excellent prediction performance on structured datasets.</a:t>
            </a:r>
          </a:p>
        </p:txBody>
      </p:sp>
      <p:sp>
        <p:nvSpPr>
          <p:cNvPr name="TextBox 12" id="12"/>
          <p:cNvSpPr txBox="true"/>
          <p:nvPr/>
        </p:nvSpPr>
        <p:spPr>
          <a:xfrm rot="0">
            <a:off x="8642099" y="6863673"/>
            <a:ext cx="3953358"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XGBoost</a:t>
            </a:r>
          </a:p>
        </p:txBody>
      </p:sp>
      <p:sp>
        <p:nvSpPr>
          <p:cNvPr name="TextBox 13" id="13"/>
          <p:cNvSpPr txBox="true"/>
          <p:nvPr/>
        </p:nvSpPr>
        <p:spPr>
          <a:xfrm rot="0">
            <a:off x="13114742" y="7406640"/>
            <a:ext cx="4144558" cy="2223135"/>
          </a:xfrm>
          <a:prstGeom prst="rect">
            <a:avLst/>
          </a:prstGeom>
        </p:spPr>
        <p:txBody>
          <a:bodyPr anchor="t" rtlCol="false" tIns="0" lIns="0" bIns="0" rIns="0">
            <a:spAutoFit/>
          </a:bodyPr>
          <a:lstStyle/>
          <a:p>
            <a:pPr algn="l">
              <a:lnSpc>
                <a:spcPts val="2940"/>
              </a:lnSpc>
            </a:pPr>
            <a:r>
              <a:rPr lang="en-US" sz="2100">
                <a:solidFill>
                  <a:srgbClr val="FFFFFF"/>
                </a:solidFill>
                <a:latin typeface="TT Hoves"/>
                <a:ea typeface="TT Hoves"/>
                <a:cs typeface="TT Hoves"/>
                <a:sym typeface="TT Hoves"/>
              </a:rPr>
              <a:t>A deep learning model specifically designed for time-series forecasting. It captures long-term dependencies in sequential stock market data, making it highly suitable for stock price prediction.</a:t>
            </a:r>
          </a:p>
        </p:txBody>
      </p:sp>
      <p:sp>
        <p:nvSpPr>
          <p:cNvPr name="TextBox 14" id="14"/>
          <p:cNvSpPr txBox="true"/>
          <p:nvPr/>
        </p:nvSpPr>
        <p:spPr>
          <a:xfrm rot="0">
            <a:off x="13114742" y="6863673"/>
            <a:ext cx="4038845"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LSTM (Long Short-Term Memory)</a:t>
            </a:r>
          </a:p>
        </p:txBody>
      </p:sp>
      <p:sp>
        <p:nvSpPr>
          <p:cNvPr name="TextBox 15" id="15"/>
          <p:cNvSpPr txBox="true"/>
          <p:nvPr/>
        </p:nvSpPr>
        <p:spPr>
          <a:xfrm rot="0">
            <a:off x="8642099" y="2454620"/>
            <a:ext cx="2502098" cy="589916"/>
          </a:xfrm>
          <a:prstGeom prst="rect">
            <a:avLst/>
          </a:prstGeom>
        </p:spPr>
        <p:txBody>
          <a:bodyPr anchor="t" rtlCol="false" tIns="0" lIns="0" bIns="0" rIns="0">
            <a:spAutoFit/>
          </a:bodyPr>
          <a:lstStyle/>
          <a:p>
            <a:pPr algn="ctr">
              <a:lnSpc>
                <a:spcPts val="4759"/>
              </a:lnSpc>
              <a:spcBef>
                <a:spcPct val="0"/>
              </a:spcBef>
            </a:pPr>
            <a:r>
              <a:rPr lang="en-US" sz="3399">
                <a:solidFill>
                  <a:srgbClr val="75FF82"/>
                </a:solidFill>
                <a:latin typeface="TT Hoves"/>
                <a:ea typeface="TT Hoves"/>
                <a:cs typeface="TT Hoves"/>
                <a:sym typeface="TT Hoves"/>
              </a:rPr>
              <a:t>M</a:t>
            </a:r>
            <a:r>
              <a:rPr lang="en-US" sz="3399">
                <a:solidFill>
                  <a:srgbClr val="75FF82"/>
                </a:solidFill>
                <a:latin typeface="TT Hoves"/>
                <a:ea typeface="TT Hoves"/>
                <a:cs typeface="TT Hoves"/>
                <a:sym typeface="TT Hoves"/>
              </a:rPr>
              <a:t>odels Used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grpSp>
        <p:nvGrpSpPr>
          <p:cNvPr name="Group 2" id="2"/>
          <p:cNvGrpSpPr/>
          <p:nvPr/>
        </p:nvGrpSpPr>
        <p:grpSpPr>
          <a:xfrm rot="0">
            <a:off x="1670965" y="3528065"/>
            <a:ext cx="14902960" cy="8387676"/>
            <a:chOff x="0" y="0"/>
            <a:chExt cx="3925059" cy="2209100"/>
          </a:xfrm>
        </p:grpSpPr>
        <p:sp>
          <p:nvSpPr>
            <p:cNvPr name="Freeform 3" id="3"/>
            <p:cNvSpPr/>
            <p:nvPr/>
          </p:nvSpPr>
          <p:spPr>
            <a:xfrm flipH="false" flipV="false" rot="0">
              <a:off x="0" y="0"/>
              <a:ext cx="3925059" cy="2209100"/>
            </a:xfrm>
            <a:custGeom>
              <a:avLst/>
              <a:gdLst/>
              <a:ahLst/>
              <a:cxnLst/>
              <a:rect r="r" b="b" t="t" l="l"/>
              <a:pathLst>
                <a:path h="2209100" w="3925059">
                  <a:moveTo>
                    <a:pt x="18702" y="0"/>
                  </a:moveTo>
                  <a:lnTo>
                    <a:pt x="3906358" y="0"/>
                  </a:lnTo>
                  <a:cubicBezTo>
                    <a:pt x="3911317" y="0"/>
                    <a:pt x="3916075" y="1970"/>
                    <a:pt x="3919582" y="5478"/>
                  </a:cubicBezTo>
                  <a:cubicBezTo>
                    <a:pt x="3923089" y="8985"/>
                    <a:pt x="3925059" y="13742"/>
                    <a:pt x="3925059" y="18702"/>
                  </a:cubicBezTo>
                  <a:lnTo>
                    <a:pt x="3925059" y="2190398"/>
                  </a:lnTo>
                  <a:cubicBezTo>
                    <a:pt x="3925059" y="2200727"/>
                    <a:pt x="3916686" y="2209100"/>
                    <a:pt x="3906358" y="2209100"/>
                  </a:cubicBezTo>
                  <a:lnTo>
                    <a:pt x="18702" y="2209100"/>
                  </a:lnTo>
                  <a:cubicBezTo>
                    <a:pt x="8373" y="2209100"/>
                    <a:pt x="0" y="2200727"/>
                    <a:pt x="0" y="2190398"/>
                  </a:cubicBezTo>
                  <a:lnTo>
                    <a:pt x="0" y="18702"/>
                  </a:lnTo>
                  <a:cubicBezTo>
                    <a:pt x="0" y="8373"/>
                    <a:pt x="8373" y="0"/>
                    <a:pt x="18702" y="0"/>
                  </a:cubicBezTo>
                  <a:close/>
                </a:path>
              </a:pathLst>
            </a:custGeom>
            <a:gradFill rotWithShape="true">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name="TextBox 4" id="4"/>
            <p:cNvSpPr txBox="true"/>
            <p:nvPr/>
          </p:nvSpPr>
          <p:spPr>
            <a:xfrm>
              <a:off x="0" y="-47625"/>
              <a:ext cx="3925059" cy="225672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961028" y="3869586"/>
            <a:ext cx="10365945" cy="6156057"/>
          </a:xfrm>
          <a:custGeom>
            <a:avLst/>
            <a:gdLst/>
            <a:ahLst/>
            <a:cxnLst/>
            <a:rect r="r" b="b" t="t" l="l"/>
            <a:pathLst>
              <a:path h="6156057" w="10365945">
                <a:moveTo>
                  <a:pt x="0" y="0"/>
                </a:moveTo>
                <a:lnTo>
                  <a:pt x="10365944" y="0"/>
                </a:lnTo>
                <a:lnTo>
                  <a:pt x="10365944" y="6156057"/>
                </a:lnTo>
                <a:lnTo>
                  <a:pt x="0" y="6156057"/>
                </a:lnTo>
                <a:lnTo>
                  <a:pt x="0" y="0"/>
                </a:lnTo>
                <a:close/>
              </a:path>
            </a:pathLst>
          </a:custGeom>
          <a:blipFill>
            <a:blip r:embed="rId2"/>
            <a:stretch>
              <a:fillRect l="0" t="-12257" r="0" b="0"/>
            </a:stretch>
          </a:blipFill>
        </p:spPr>
      </p:sp>
      <p:sp>
        <p:nvSpPr>
          <p:cNvPr name="TextBox 6" id="6"/>
          <p:cNvSpPr txBox="true"/>
          <p:nvPr/>
        </p:nvSpPr>
        <p:spPr>
          <a:xfrm rot="0">
            <a:off x="1028700" y="461962"/>
            <a:ext cx="7279491"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System Architecture</a:t>
            </a:r>
          </a:p>
        </p:txBody>
      </p:sp>
      <p:sp>
        <p:nvSpPr>
          <p:cNvPr name="TextBox 7" id="7"/>
          <p:cNvSpPr txBox="true"/>
          <p:nvPr/>
        </p:nvSpPr>
        <p:spPr>
          <a:xfrm rot="0">
            <a:off x="1028700" y="1609751"/>
            <a:ext cx="16187491" cy="1737339"/>
          </a:xfrm>
          <a:prstGeom prst="rect">
            <a:avLst/>
          </a:prstGeom>
        </p:spPr>
        <p:txBody>
          <a:bodyPr anchor="t" rtlCol="false" tIns="0" lIns="0" bIns="0" rIns="0">
            <a:spAutoFit/>
          </a:bodyPr>
          <a:lstStyle/>
          <a:p>
            <a:pPr algn="l">
              <a:lnSpc>
                <a:spcPts val="3466"/>
              </a:lnSpc>
            </a:pPr>
            <a:r>
              <a:rPr lang="en-US" sz="2475">
                <a:solidFill>
                  <a:srgbClr val="FFFFFF"/>
                </a:solidFill>
                <a:latin typeface="TT Hoves"/>
                <a:ea typeface="TT Hoves"/>
                <a:cs typeface="TT Hoves"/>
                <a:sym typeface="TT Hoves"/>
              </a:rPr>
              <a:t>The BullSight AI system follows a structured workflow to predict future stock prices using Machine Learning. It begins with collecting historical stock market data, followed by preprocessing and feature engineering to prepare the data for model training. The trained model then generates stock price predictions, which are displayed to the user through an interactive dashboard.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TextBox 2" id="2"/>
          <p:cNvSpPr txBox="true"/>
          <p:nvPr/>
        </p:nvSpPr>
        <p:spPr>
          <a:xfrm rot="0">
            <a:off x="823464" y="2267047"/>
            <a:ext cx="11631834" cy="1663065"/>
          </a:xfrm>
          <a:prstGeom prst="rect">
            <a:avLst/>
          </a:prstGeom>
        </p:spPr>
        <p:txBody>
          <a:bodyPr anchor="t" rtlCol="false" tIns="0" lIns="0" bIns="0" rIns="0">
            <a:spAutoFit/>
          </a:bodyPr>
          <a:lstStyle/>
          <a:p>
            <a:pPr algn="l">
              <a:lnSpc>
                <a:spcPts val="3359"/>
              </a:lnSpc>
            </a:pPr>
            <a:r>
              <a:rPr lang="en-US" sz="2399">
                <a:solidFill>
                  <a:srgbClr val="FFFFFF"/>
                </a:solidFill>
                <a:latin typeface="TT Hoves"/>
                <a:ea typeface="TT Hoves"/>
                <a:cs typeface="TT Hoves"/>
                <a:sym typeface="TT Hoves"/>
              </a:rPr>
              <a:t>BullSight AI is developed using modern technologies for data collection, machine learning, backend processing, frontend visualization, and database management. These tools work together to build an efficient and user-friendly stock market prediction system.</a:t>
            </a:r>
          </a:p>
        </p:txBody>
      </p:sp>
      <p:sp>
        <p:nvSpPr>
          <p:cNvPr name="Freeform 3" id="3"/>
          <p:cNvSpPr/>
          <p:nvPr/>
        </p:nvSpPr>
        <p:spPr>
          <a:xfrm flipH="false" flipV="false" rot="-507067">
            <a:off x="9529550" y="1648942"/>
            <a:ext cx="7042553" cy="7042553"/>
          </a:xfrm>
          <a:custGeom>
            <a:avLst/>
            <a:gdLst/>
            <a:ahLst/>
            <a:cxnLst/>
            <a:rect r="r" b="b" t="t" l="l"/>
            <a:pathLst>
              <a:path h="7042553" w="7042553">
                <a:moveTo>
                  <a:pt x="0" y="0"/>
                </a:moveTo>
                <a:lnTo>
                  <a:pt x="7042553" y="0"/>
                </a:lnTo>
                <a:lnTo>
                  <a:pt x="7042553" y="7042553"/>
                </a:lnTo>
                <a:lnTo>
                  <a:pt x="0" y="7042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823464" y="4492087"/>
            <a:ext cx="9196662" cy="4939622"/>
            <a:chOff x="0" y="0"/>
            <a:chExt cx="2422166" cy="1300970"/>
          </a:xfrm>
        </p:grpSpPr>
        <p:sp>
          <p:nvSpPr>
            <p:cNvPr name="Freeform 5" id="5"/>
            <p:cNvSpPr/>
            <p:nvPr/>
          </p:nvSpPr>
          <p:spPr>
            <a:xfrm flipH="false" flipV="false" rot="0">
              <a:off x="0" y="0"/>
              <a:ext cx="2422166" cy="1300970"/>
            </a:xfrm>
            <a:custGeom>
              <a:avLst/>
              <a:gdLst/>
              <a:ahLst/>
              <a:cxnLst/>
              <a:rect r="r" b="b" t="t" l="l"/>
              <a:pathLst>
                <a:path h="1300970" w="2422166">
                  <a:moveTo>
                    <a:pt x="30305" y="0"/>
                  </a:moveTo>
                  <a:lnTo>
                    <a:pt x="2391861" y="0"/>
                  </a:lnTo>
                  <a:cubicBezTo>
                    <a:pt x="2408598" y="0"/>
                    <a:pt x="2422166" y="13568"/>
                    <a:pt x="2422166" y="30305"/>
                  </a:cubicBezTo>
                  <a:lnTo>
                    <a:pt x="2422166" y="1270665"/>
                  </a:lnTo>
                  <a:cubicBezTo>
                    <a:pt x="2422166" y="1278703"/>
                    <a:pt x="2418973" y="1286411"/>
                    <a:pt x="2413290" y="1292094"/>
                  </a:cubicBezTo>
                  <a:cubicBezTo>
                    <a:pt x="2407607" y="1297778"/>
                    <a:pt x="2399898" y="1300970"/>
                    <a:pt x="2391861" y="1300970"/>
                  </a:cubicBezTo>
                  <a:lnTo>
                    <a:pt x="30305" y="1300970"/>
                  </a:lnTo>
                  <a:cubicBezTo>
                    <a:pt x="22268" y="1300970"/>
                    <a:pt x="14560" y="1297778"/>
                    <a:pt x="8876" y="1292094"/>
                  </a:cubicBezTo>
                  <a:cubicBezTo>
                    <a:pt x="3193" y="1286411"/>
                    <a:pt x="0" y="1278703"/>
                    <a:pt x="0" y="1270665"/>
                  </a:cubicBezTo>
                  <a:lnTo>
                    <a:pt x="0" y="30305"/>
                  </a:lnTo>
                  <a:cubicBezTo>
                    <a:pt x="0" y="22268"/>
                    <a:pt x="3193" y="14560"/>
                    <a:pt x="8876" y="8876"/>
                  </a:cubicBezTo>
                  <a:cubicBezTo>
                    <a:pt x="14560" y="3193"/>
                    <a:pt x="22268" y="0"/>
                    <a:pt x="30305" y="0"/>
                  </a:cubicBezTo>
                  <a:close/>
                </a:path>
              </a:pathLst>
            </a:custGeom>
            <a:solidFill>
              <a:srgbClr val="141A1F">
                <a:alpha val="57647"/>
              </a:srgbClr>
            </a:solidFill>
            <a:ln w="47625" cap="rnd">
              <a:solidFill>
                <a:srgbClr val="33CD91">
                  <a:alpha val="57647"/>
                </a:srgbClr>
              </a:solidFill>
              <a:prstDash val="solid"/>
              <a:round/>
            </a:ln>
          </p:spPr>
        </p:sp>
        <p:sp>
          <p:nvSpPr>
            <p:cNvPr name="TextBox 6" id="6"/>
            <p:cNvSpPr txBox="true"/>
            <p:nvPr/>
          </p:nvSpPr>
          <p:spPr>
            <a:xfrm>
              <a:off x="0" y="-47625"/>
              <a:ext cx="2422166" cy="1348595"/>
            </a:xfrm>
            <a:prstGeom prst="rect">
              <a:avLst/>
            </a:prstGeom>
          </p:spPr>
          <p:txBody>
            <a:bodyPr anchor="ctr" rtlCol="false" tIns="50800" lIns="50800" bIns="50800" rIns="50800"/>
            <a:lstStyle/>
            <a:p>
              <a:pPr algn="ctr">
                <a:lnSpc>
                  <a:spcPts val="2659"/>
                </a:lnSpc>
                <a:spcBef>
                  <a:spcPct val="0"/>
                </a:spcBef>
              </a:pPr>
            </a:p>
            <a:p>
              <a:pPr algn="ctr">
                <a:lnSpc>
                  <a:spcPts val="2659"/>
                </a:lnSpc>
                <a:spcBef>
                  <a:spcPct val="0"/>
                </a:spcBef>
              </a:pPr>
            </a:p>
          </p:txBody>
        </p:sp>
      </p:grpSp>
      <p:sp>
        <p:nvSpPr>
          <p:cNvPr name="AutoShape 7" id="7"/>
          <p:cNvSpPr/>
          <p:nvPr/>
        </p:nvSpPr>
        <p:spPr>
          <a:xfrm flipH="true">
            <a:off x="5421795" y="4492162"/>
            <a:ext cx="19050" cy="4939548"/>
          </a:xfrm>
          <a:prstGeom prst="line">
            <a:avLst/>
          </a:prstGeom>
          <a:ln cap="flat" w="38100">
            <a:solidFill>
              <a:srgbClr val="33CD91"/>
            </a:solidFill>
            <a:prstDash val="solid"/>
            <a:headEnd type="none" len="sm" w="sm"/>
            <a:tailEnd type="none" len="sm" w="sm"/>
          </a:ln>
        </p:spPr>
      </p:sp>
      <p:sp>
        <p:nvSpPr>
          <p:cNvPr name="AutoShape 8" id="8"/>
          <p:cNvSpPr/>
          <p:nvPr/>
        </p:nvSpPr>
        <p:spPr>
          <a:xfrm flipV="true">
            <a:off x="823464" y="5437830"/>
            <a:ext cx="9196662" cy="69697"/>
          </a:xfrm>
          <a:prstGeom prst="line">
            <a:avLst/>
          </a:prstGeom>
          <a:ln cap="flat" w="38100">
            <a:solidFill>
              <a:srgbClr val="33CD91"/>
            </a:solidFill>
            <a:prstDash val="solid"/>
            <a:headEnd type="none" len="sm" w="sm"/>
            <a:tailEnd type="none" len="sm" w="sm"/>
          </a:ln>
        </p:spPr>
      </p:sp>
      <p:sp>
        <p:nvSpPr>
          <p:cNvPr name="TextBox 9" id="9"/>
          <p:cNvSpPr txBox="true"/>
          <p:nvPr/>
        </p:nvSpPr>
        <p:spPr>
          <a:xfrm rot="0">
            <a:off x="823464" y="876397"/>
            <a:ext cx="6255605" cy="880110"/>
          </a:xfrm>
          <a:prstGeom prst="rect">
            <a:avLst/>
          </a:prstGeom>
        </p:spPr>
        <p:txBody>
          <a:bodyPr anchor="t" rtlCol="false" tIns="0" lIns="0" bIns="0" rIns="0">
            <a:spAutoFit/>
          </a:bodyPr>
          <a:lstStyle/>
          <a:p>
            <a:pPr algn="l">
              <a:lnSpc>
                <a:spcPts val="7139"/>
              </a:lnSpc>
            </a:pPr>
            <a:r>
              <a:rPr lang="en-US" sz="5099">
                <a:solidFill>
                  <a:srgbClr val="75FF82"/>
                </a:solidFill>
                <a:latin typeface="TT Hoves"/>
                <a:ea typeface="TT Hoves"/>
                <a:cs typeface="TT Hoves"/>
                <a:sym typeface="TT Hoves"/>
              </a:rPr>
              <a:t>Tools &amp; Technologies</a:t>
            </a:r>
          </a:p>
        </p:txBody>
      </p:sp>
      <p:sp>
        <p:nvSpPr>
          <p:cNvPr name="TextBox 10" id="10"/>
          <p:cNvSpPr txBox="true"/>
          <p:nvPr/>
        </p:nvSpPr>
        <p:spPr>
          <a:xfrm rot="0">
            <a:off x="1798034" y="4600963"/>
            <a:ext cx="2349698" cy="738506"/>
          </a:xfrm>
          <a:prstGeom prst="rect">
            <a:avLst/>
          </a:prstGeom>
        </p:spPr>
        <p:txBody>
          <a:bodyPr anchor="t" rtlCol="false" tIns="0" lIns="0" bIns="0" rIns="0">
            <a:spAutoFit/>
          </a:bodyPr>
          <a:lstStyle/>
          <a:p>
            <a:pPr algn="ctr">
              <a:lnSpc>
                <a:spcPts val="6019"/>
              </a:lnSpc>
              <a:spcBef>
                <a:spcPct val="0"/>
              </a:spcBef>
            </a:pPr>
            <a:r>
              <a:rPr lang="en-US" sz="4299" spc="111">
                <a:solidFill>
                  <a:srgbClr val="33CD91"/>
                </a:solidFill>
                <a:latin typeface="TT Hoves"/>
                <a:ea typeface="TT Hoves"/>
                <a:cs typeface="TT Hoves"/>
                <a:sym typeface="TT Hoves"/>
              </a:rPr>
              <a:t>Category</a:t>
            </a:r>
          </a:p>
        </p:txBody>
      </p:sp>
      <p:sp>
        <p:nvSpPr>
          <p:cNvPr name="TextBox 11" id="11"/>
          <p:cNvSpPr txBox="true"/>
          <p:nvPr/>
        </p:nvSpPr>
        <p:spPr>
          <a:xfrm rot="0">
            <a:off x="5993007" y="4600965"/>
            <a:ext cx="3383989" cy="738505"/>
          </a:xfrm>
          <a:prstGeom prst="rect">
            <a:avLst/>
          </a:prstGeom>
        </p:spPr>
        <p:txBody>
          <a:bodyPr anchor="t" rtlCol="false" tIns="0" lIns="0" bIns="0" rIns="0">
            <a:spAutoFit/>
          </a:bodyPr>
          <a:lstStyle/>
          <a:p>
            <a:pPr algn="ctr">
              <a:lnSpc>
                <a:spcPts val="6019"/>
              </a:lnSpc>
              <a:spcBef>
                <a:spcPct val="0"/>
              </a:spcBef>
            </a:pPr>
            <a:r>
              <a:rPr lang="en-US" sz="4299" spc="111">
                <a:solidFill>
                  <a:srgbClr val="33CD91"/>
                </a:solidFill>
                <a:latin typeface="TT Hoves"/>
                <a:ea typeface="TT Hoves"/>
                <a:cs typeface="TT Hoves"/>
                <a:sym typeface="TT Hoves"/>
              </a:rPr>
              <a:t>Technol</a:t>
            </a:r>
            <a:r>
              <a:rPr lang="en-US" sz="4299" spc="111">
                <a:solidFill>
                  <a:srgbClr val="33CD91"/>
                </a:solidFill>
                <a:latin typeface="TT Hoves"/>
                <a:ea typeface="TT Hoves"/>
                <a:cs typeface="TT Hoves"/>
                <a:sym typeface="TT Hoves"/>
              </a:rPr>
              <a:t>ogy</a:t>
            </a:r>
          </a:p>
        </p:txBody>
      </p:sp>
      <p:sp>
        <p:nvSpPr>
          <p:cNvPr name="AutoShape 12" id="12"/>
          <p:cNvSpPr/>
          <p:nvPr/>
        </p:nvSpPr>
        <p:spPr>
          <a:xfrm>
            <a:off x="823464" y="6298102"/>
            <a:ext cx="9196662" cy="0"/>
          </a:xfrm>
          <a:prstGeom prst="line">
            <a:avLst/>
          </a:prstGeom>
          <a:ln cap="flat" w="38100">
            <a:solidFill>
              <a:srgbClr val="B2B2B2"/>
            </a:solidFill>
            <a:prstDash val="solid"/>
            <a:headEnd type="none" len="sm" w="sm"/>
            <a:tailEnd type="none" len="sm" w="sm"/>
          </a:ln>
        </p:spPr>
      </p:sp>
      <p:sp>
        <p:nvSpPr>
          <p:cNvPr name="AutoShape 13" id="13"/>
          <p:cNvSpPr/>
          <p:nvPr/>
        </p:nvSpPr>
        <p:spPr>
          <a:xfrm>
            <a:off x="823464" y="7088677"/>
            <a:ext cx="9196662" cy="0"/>
          </a:xfrm>
          <a:prstGeom prst="line">
            <a:avLst/>
          </a:prstGeom>
          <a:ln cap="flat" w="38100">
            <a:solidFill>
              <a:srgbClr val="B2B2B2"/>
            </a:solidFill>
            <a:prstDash val="solid"/>
            <a:headEnd type="none" len="sm" w="sm"/>
            <a:tailEnd type="none" len="sm" w="sm"/>
          </a:ln>
        </p:spPr>
      </p:sp>
      <p:sp>
        <p:nvSpPr>
          <p:cNvPr name="AutoShape 14" id="14"/>
          <p:cNvSpPr/>
          <p:nvPr/>
        </p:nvSpPr>
        <p:spPr>
          <a:xfrm>
            <a:off x="823464" y="7879252"/>
            <a:ext cx="9196662" cy="0"/>
          </a:xfrm>
          <a:prstGeom prst="line">
            <a:avLst/>
          </a:prstGeom>
          <a:ln cap="flat" w="38100">
            <a:solidFill>
              <a:srgbClr val="B2B2B2"/>
            </a:solidFill>
            <a:prstDash val="solid"/>
            <a:headEnd type="none" len="sm" w="sm"/>
            <a:tailEnd type="none" len="sm" w="sm"/>
          </a:ln>
        </p:spPr>
      </p:sp>
      <p:sp>
        <p:nvSpPr>
          <p:cNvPr name="AutoShape 15" id="15"/>
          <p:cNvSpPr/>
          <p:nvPr/>
        </p:nvSpPr>
        <p:spPr>
          <a:xfrm>
            <a:off x="823464" y="8669827"/>
            <a:ext cx="9196662" cy="0"/>
          </a:xfrm>
          <a:prstGeom prst="line">
            <a:avLst/>
          </a:prstGeom>
          <a:ln cap="flat" w="38100">
            <a:solidFill>
              <a:srgbClr val="B2B2B2"/>
            </a:solidFill>
            <a:prstDash val="solid"/>
            <a:headEnd type="none" len="sm" w="sm"/>
            <a:tailEnd type="none" len="sm" w="sm"/>
          </a:ln>
        </p:spPr>
      </p:sp>
      <p:sp>
        <p:nvSpPr>
          <p:cNvPr name="TextBox 16" id="16"/>
          <p:cNvSpPr txBox="true"/>
          <p:nvPr/>
        </p:nvSpPr>
        <p:spPr>
          <a:xfrm rot="0">
            <a:off x="2436924" y="5735864"/>
            <a:ext cx="1071920"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Hoves"/>
                <a:ea typeface="TT Hoves"/>
                <a:cs typeface="TT Hoves"/>
                <a:sym typeface="TT Hoves"/>
              </a:rPr>
              <a:t>F</a:t>
            </a:r>
            <a:r>
              <a:rPr lang="en-US" sz="2099">
                <a:solidFill>
                  <a:srgbClr val="FFFFFF"/>
                </a:solidFill>
                <a:latin typeface="TT Hoves"/>
                <a:ea typeface="TT Hoves"/>
                <a:cs typeface="TT Hoves"/>
                <a:sym typeface="TT Hoves"/>
              </a:rPr>
              <a:t>rontend</a:t>
            </a:r>
          </a:p>
        </p:txBody>
      </p:sp>
      <p:sp>
        <p:nvSpPr>
          <p:cNvPr name="TextBox 17" id="17"/>
          <p:cNvSpPr txBox="true"/>
          <p:nvPr/>
        </p:nvSpPr>
        <p:spPr>
          <a:xfrm rot="0">
            <a:off x="2262355" y="6486696"/>
            <a:ext cx="1463325"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Hoves"/>
                <a:ea typeface="TT Hoves"/>
                <a:cs typeface="TT Hoves"/>
                <a:sym typeface="TT Hoves"/>
              </a:rPr>
              <a:t>B</a:t>
            </a:r>
            <a:r>
              <a:rPr lang="en-US" sz="2099">
                <a:solidFill>
                  <a:srgbClr val="FFFFFF"/>
                </a:solidFill>
                <a:latin typeface="TT Hoves"/>
                <a:ea typeface="TT Hoves"/>
                <a:cs typeface="TT Hoves"/>
                <a:sym typeface="TT Hoves"/>
              </a:rPr>
              <a:t>ackend</a:t>
            </a:r>
          </a:p>
        </p:txBody>
      </p:sp>
      <p:sp>
        <p:nvSpPr>
          <p:cNvPr name="TextBox 18" id="18"/>
          <p:cNvSpPr txBox="true"/>
          <p:nvPr/>
        </p:nvSpPr>
        <p:spPr>
          <a:xfrm rot="0">
            <a:off x="2434721" y="7298227"/>
            <a:ext cx="1118592"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Hoves"/>
                <a:ea typeface="TT Hoves"/>
                <a:cs typeface="TT Hoves"/>
                <a:sym typeface="TT Hoves"/>
              </a:rPr>
              <a:t>D</a:t>
            </a:r>
            <a:r>
              <a:rPr lang="en-US" sz="2099">
                <a:solidFill>
                  <a:srgbClr val="FFFFFF"/>
                </a:solidFill>
                <a:latin typeface="TT Hoves"/>
                <a:ea typeface="TT Hoves"/>
                <a:cs typeface="TT Hoves"/>
                <a:sym typeface="TT Hoves"/>
              </a:rPr>
              <a:t>atabase</a:t>
            </a:r>
          </a:p>
        </p:txBody>
      </p:sp>
      <p:sp>
        <p:nvSpPr>
          <p:cNvPr name="TextBox 19" id="19"/>
          <p:cNvSpPr txBox="true"/>
          <p:nvPr/>
        </p:nvSpPr>
        <p:spPr>
          <a:xfrm rot="0">
            <a:off x="2466808" y="8088802"/>
            <a:ext cx="1012150"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Hoves"/>
                <a:ea typeface="TT Hoves"/>
                <a:cs typeface="TT Hoves"/>
                <a:sym typeface="TT Hoves"/>
              </a:rPr>
              <a:t>IDE</a:t>
            </a:r>
          </a:p>
        </p:txBody>
      </p:sp>
      <p:sp>
        <p:nvSpPr>
          <p:cNvPr name="TextBox 20" id="20"/>
          <p:cNvSpPr txBox="true"/>
          <p:nvPr/>
        </p:nvSpPr>
        <p:spPr>
          <a:xfrm rot="0">
            <a:off x="2466808" y="8869852"/>
            <a:ext cx="1012150"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Hoves"/>
                <a:ea typeface="TT Hoves"/>
                <a:cs typeface="TT Hoves"/>
                <a:sym typeface="TT Hoves"/>
              </a:rPr>
              <a:t>API</a:t>
            </a:r>
          </a:p>
        </p:txBody>
      </p:sp>
      <p:sp>
        <p:nvSpPr>
          <p:cNvPr name="TextBox 21" id="21"/>
          <p:cNvSpPr txBox="true"/>
          <p:nvPr/>
        </p:nvSpPr>
        <p:spPr>
          <a:xfrm rot="0">
            <a:off x="7200060" y="5735864"/>
            <a:ext cx="969883"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Hoves"/>
                <a:ea typeface="TT Hoves"/>
                <a:cs typeface="TT Hoves"/>
                <a:sym typeface="TT Hoves"/>
              </a:rPr>
              <a:t>Re</a:t>
            </a:r>
            <a:r>
              <a:rPr lang="en-US" sz="2099">
                <a:solidFill>
                  <a:srgbClr val="FFFFFF"/>
                </a:solidFill>
                <a:latin typeface="TT Hoves"/>
                <a:ea typeface="TT Hoves"/>
                <a:cs typeface="TT Hoves"/>
                <a:sym typeface="TT Hoves"/>
              </a:rPr>
              <a:t>act.js</a:t>
            </a:r>
          </a:p>
        </p:txBody>
      </p:sp>
      <p:sp>
        <p:nvSpPr>
          <p:cNvPr name="TextBox 22" id="22"/>
          <p:cNvSpPr txBox="true"/>
          <p:nvPr/>
        </p:nvSpPr>
        <p:spPr>
          <a:xfrm rot="0">
            <a:off x="6133982" y="6503207"/>
            <a:ext cx="3102039"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Hoves"/>
                <a:ea typeface="TT Hoves"/>
                <a:cs typeface="TT Hoves"/>
                <a:sym typeface="TT Hoves"/>
              </a:rPr>
              <a:t>F</a:t>
            </a:r>
            <a:r>
              <a:rPr lang="en-US" sz="2099">
                <a:solidFill>
                  <a:srgbClr val="FFFFFF"/>
                </a:solidFill>
                <a:latin typeface="TT Hoves"/>
                <a:ea typeface="TT Hoves"/>
                <a:cs typeface="TT Hoves"/>
                <a:sym typeface="TT Hoves"/>
              </a:rPr>
              <a:t>astAPI / Flask</a:t>
            </a:r>
          </a:p>
        </p:txBody>
      </p:sp>
      <p:sp>
        <p:nvSpPr>
          <p:cNvPr name="TextBox 23" id="23"/>
          <p:cNvSpPr txBox="true"/>
          <p:nvPr/>
        </p:nvSpPr>
        <p:spPr>
          <a:xfrm rot="0">
            <a:off x="7200060" y="7293782"/>
            <a:ext cx="969883"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Hoves"/>
                <a:ea typeface="TT Hoves"/>
                <a:cs typeface="TT Hoves"/>
                <a:sym typeface="TT Hoves"/>
              </a:rPr>
              <a:t>MySQL</a:t>
            </a:r>
          </a:p>
        </p:txBody>
      </p:sp>
      <p:sp>
        <p:nvSpPr>
          <p:cNvPr name="TextBox 24" id="24"/>
          <p:cNvSpPr txBox="true"/>
          <p:nvPr/>
        </p:nvSpPr>
        <p:spPr>
          <a:xfrm rot="0">
            <a:off x="6274968" y="8060227"/>
            <a:ext cx="2820067"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Hoves"/>
                <a:ea typeface="TT Hoves"/>
                <a:cs typeface="TT Hoves"/>
                <a:sym typeface="TT Hoves"/>
              </a:rPr>
              <a:t>Vis</a:t>
            </a:r>
            <a:r>
              <a:rPr lang="en-US" sz="2099">
                <a:solidFill>
                  <a:srgbClr val="FFFFFF"/>
                </a:solidFill>
                <a:latin typeface="TT Hoves"/>
                <a:ea typeface="TT Hoves"/>
                <a:cs typeface="TT Hoves"/>
                <a:sym typeface="TT Hoves"/>
              </a:rPr>
              <a:t>ual Studio Code</a:t>
            </a:r>
          </a:p>
        </p:txBody>
      </p:sp>
      <p:sp>
        <p:nvSpPr>
          <p:cNvPr name="TextBox 25" id="25"/>
          <p:cNvSpPr txBox="true"/>
          <p:nvPr/>
        </p:nvSpPr>
        <p:spPr>
          <a:xfrm rot="0">
            <a:off x="6133982" y="8879377"/>
            <a:ext cx="3327388" cy="36576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Hoves"/>
                <a:ea typeface="TT Hoves"/>
                <a:cs typeface="TT Hoves"/>
                <a:sym typeface="TT Hoves"/>
              </a:rPr>
              <a:t>Yahoo Finance (yfinance)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4616650" y="643862"/>
            <a:ext cx="9938959" cy="8999275"/>
          </a:xfrm>
          <a:custGeom>
            <a:avLst/>
            <a:gdLst/>
            <a:ahLst/>
            <a:cxnLst/>
            <a:rect r="r" b="b" t="t" l="l"/>
            <a:pathLst>
              <a:path h="8999275" w="9938959">
                <a:moveTo>
                  <a:pt x="0" y="0"/>
                </a:moveTo>
                <a:lnTo>
                  <a:pt x="9938959" y="0"/>
                </a:lnTo>
                <a:lnTo>
                  <a:pt x="9938959" y="8999276"/>
                </a:lnTo>
                <a:lnTo>
                  <a:pt x="0" y="8999276"/>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35251" y="4265758"/>
            <a:ext cx="4911591" cy="2430396"/>
            <a:chOff x="0" y="0"/>
            <a:chExt cx="1293588" cy="640104"/>
          </a:xfrm>
        </p:grpSpPr>
        <p:sp>
          <p:nvSpPr>
            <p:cNvPr name="Freeform 4" id="4"/>
            <p:cNvSpPr/>
            <p:nvPr/>
          </p:nvSpPr>
          <p:spPr>
            <a:xfrm flipH="false" flipV="false" rot="0">
              <a:off x="0" y="0"/>
              <a:ext cx="1293588" cy="640104"/>
            </a:xfrm>
            <a:custGeom>
              <a:avLst/>
              <a:gdLst/>
              <a:ahLst/>
              <a:cxnLst/>
              <a:rect r="r" b="b" t="t" l="l"/>
              <a:pathLst>
                <a:path h="640104" w="1293588">
                  <a:moveTo>
                    <a:pt x="36254" y="0"/>
                  </a:moveTo>
                  <a:lnTo>
                    <a:pt x="1257334" y="0"/>
                  </a:lnTo>
                  <a:cubicBezTo>
                    <a:pt x="1277356" y="0"/>
                    <a:pt x="1293588" y="16231"/>
                    <a:pt x="1293588" y="36254"/>
                  </a:cubicBezTo>
                  <a:lnTo>
                    <a:pt x="1293588" y="603850"/>
                  </a:lnTo>
                  <a:cubicBezTo>
                    <a:pt x="1293588" y="613466"/>
                    <a:pt x="1289768" y="622687"/>
                    <a:pt x="1282969" y="629486"/>
                  </a:cubicBezTo>
                  <a:cubicBezTo>
                    <a:pt x="1276170" y="636285"/>
                    <a:pt x="1266949" y="640104"/>
                    <a:pt x="1257334" y="640104"/>
                  </a:cubicBezTo>
                  <a:lnTo>
                    <a:pt x="36254" y="640104"/>
                  </a:lnTo>
                  <a:cubicBezTo>
                    <a:pt x="26639" y="640104"/>
                    <a:pt x="17417" y="636285"/>
                    <a:pt x="10619" y="629486"/>
                  </a:cubicBezTo>
                  <a:cubicBezTo>
                    <a:pt x="3820" y="622687"/>
                    <a:pt x="0" y="613466"/>
                    <a:pt x="0" y="603850"/>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5" id="5"/>
            <p:cNvSpPr txBox="true"/>
            <p:nvPr/>
          </p:nvSpPr>
          <p:spPr>
            <a:xfrm>
              <a:off x="0" y="-47625"/>
              <a:ext cx="1293588" cy="687729"/>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435251" y="520037"/>
            <a:ext cx="8601967" cy="1038225"/>
          </a:xfrm>
          <a:prstGeom prst="rect">
            <a:avLst/>
          </a:prstGeom>
        </p:spPr>
        <p:txBody>
          <a:bodyPr anchor="t" rtlCol="false" tIns="0" lIns="0" bIns="0" rIns="0">
            <a:spAutoFit/>
          </a:bodyPr>
          <a:lstStyle/>
          <a:p>
            <a:pPr algn="l">
              <a:lnSpc>
                <a:spcPts val="8400"/>
              </a:lnSpc>
            </a:pPr>
            <a:r>
              <a:rPr lang="en-US" sz="6000">
                <a:solidFill>
                  <a:srgbClr val="75FF82"/>
                </a:solidFill>
                <a:latin typeface="TT Hoves"/>
                <a:ea typeface="TT Hoves"/>
                <a:cs typeface="TT Hoves"/>
                <a:sym typeface="TT Hoves"/>
              </a:rPr>
              <a:t>Expected R</a:t>
            </a:r>
            <a:r>
              <a:rPr lang="en-US" sz="6000">
                <a:solidFill>
                  <a:srgbClr val="75FF82"/>
                </a:solidFill>
                <a:latin typeface="TT Hoves"/>
                <a:ea typeface="TT Hoves"/>
                <a:cs typeface="TT Hoves"/>
                <a:sym typeface="TT Hoves"/>
              </a:rPr>
              <a:t>esults</a:t>
            </a:r>
          </a:p>
        </p:txBody>
      </p:sp>
      <p:sp>
        <p:nvSpPr>
          <p:cNvPr name="TextBox 7" id="7"/>
          <p:cNvSpPr txBox="true"/>
          <p:nvPr/>
        </p:nvSpPr>
        <p:spPr>
          <a:xfrm rot="0">
            <a:off x="1858547" y="5044711"/>
            <a:ext cx="3953358" cy="8248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Accurate prediction of future stock prices.</a:t>
            </a:r>
          </a:p>
        </p:txBody>
      </p:sp>
      <p:grpSp>
        <p:nvGrpSpPr>
          <p:cNvPr name="Group 8" id="8"/>
          <p:cNvGrpSpPr/>
          <p:nvPr/>
        </p:nvGrpSpPr>
        <p:grpSpPr>
          <a:xfrm rot="0">
            <a:off x="1435251" y="6921661"/>
            <a:ext cx="4911591" cy="2336639"/>
            <a:chOff x="0" y="0"/>
            <a:chExt cx="1293588" cy="615411"/>
          </a:xfrm>
        </p:grpSpPr>
        <p:sp>
          <p:nvSpPr>
            <p:cNvPr name="Freeform 9" id="9"/>
            <p:cNvSpPr/>
            <p:nvPr/>
          </p:nvSpPr>
          <p:spPr>
            <a:xfrm flipH="false" flipV="false" rot="0">
              <a:off x="0" y="0"/>
              <a:ext cx="1293588" cy="615411"/>
            </a:xfrm>
            <a:custGeom>
              <a:avLst/>
              <a:gdLst/>
              <a:ahLst/>
              <a:cxnLst/>
              <a:rect r="r" b="b" t="t" l="l"/>
              <a:pathLst>
                <a:path h="615411" w="1293588">
                  <a:moveTo>
                    <a:pt x="36254" y="0"/>
                  </a:moveTo>
                  <a:lnTo>
                    <a:pt x="1257334" y="0"/>
                  </a:lnTo>
                  <a:cubicBezTo>
                    <a:pt x="1277356" y="0"/>
                    <a:pt x="1293588" y="16231"/>
                    <a:pt x="1293588" y="36254"/>
                  </a:cubicBezTo>
                  <a:lnTo>
                    <a:pt x="1293588" y="579157"/>
                  </a:lnTo>
                  <a:cubicBezTo>
                    <a:pt x="1293588" y="588772"/>
                    <a:pt x="1289768" y="597994"/>
                    <a:pt x="1282969" y="604793"/>
                  </a:cubicBezTo>
                  <a:cubicBezTo>
                    <a:pt x="1276170" y="611592"/>
                    <a:pt x="1266949" y="615411"/>
                    <a:pt x="1257334" y="615411"/>
                  </a:cubicBezTo>
                  <a:lnTo>
                    <a:pt x="36254" y="615411"/>
                  </a:lnTo>
                  <a:cubicBezTo>
                    <a:pt x="26639" y="615411"/>
                    <a:pt x="17417" y="611592"/>
                    <a:pt x="10619" y="604793"/>
                  </a:cubicBezTo>
                  <a:cubicBezTo>
                    <a:pt x="3820" y="597994"/>
                    <a:pt x="0" y="588772"/>
                    <a:pt x="0" y="579157"/>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10" id="10"/>
            <p:cNvSpPr txBox="true"/>
            <p:nvPr/>
          </p:nvSpPr>
          <p:spPr>
            <a:xfrm>
              <a:off x="0" y="-47625"/>
              <a:ext cx="1293588" cy="663036"/>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729421" y="7635955"/>
            <a:ext cx="4211610" cy="860425"/>
          </a:xfrm>
          <a:prstGeom prst="rect">
            <a:avLst/>
          </a:prstGeom>
        </p:spPr>
        <p:txBody>
          <a:bodyPr anchor="t" rtlCol="false" tIns="0" lIns="0" bIns="0" rIns="0">
            <a:spAutoFit/>
          </a:bodyPr>
          <a:lstStyle/>
          <a:p>
            <a:pPr algn="ctr">
              <a:lnSpc>
                <a:spcPts val="3499"/>
              </a:lnSpc>
            </a:pPr>
            <a:r>
              <a:rPr lang="en-US" sz="2499">
                <a:solidFill>
                  <a:srgbClr val="FFFFFF"/>
                </a:solidFill>
                <a:latin typeface="TT Hoves"/>
                <a:ea typeface="TT Hoves"/>
                <a:cs typeface="TT Hoves"/>
                <a:sym typeface="TT Hoves"/>
              </a:rPr>
              <a:t> Faster and more reliable investment decision support.</a:t>
            </a:r>
          </a:p>
        </p:txBody>
      </p:sp>
      <p:grpSp>
        <p:nvGrpSpPr>
          <p:cNvPr name="Group 12" id="12"/>
          <p:cNvGrpSpPr/>
          <p:nvPr/>
        </p:nvGrpSpPr>
        <p:grpSpPr>
          <a:xfrm rot="0">
            <a:off x="6688204" y="4265758"/>
            <a:ext cx="4911591" cy="2430396"/>
            <a:chOff x="0" y="0"/>
            <a:chExt cx="1293588" cy="640104"/>
          </a:xfrm>
        </p:grpSpPr>
        <p:sp>
          <p:nvSpPr>
            <p:cNvPr name="Freeform 13" id="13"/>
            <p:cNvSpPr/>
            <p:nvPr/>
          </p:nvSpPr>
          <p:spPr>
            <a:xfrm flipH="false" flipV="false" rot="0">
              <a:off x="0" y="0"/>
              <a:ext cx="1293588" cy="640104"/>
            </a:xfrm>
            <a:custGeom>
              <a:avLst/>
              <a:gdLst/>
              <a:ahLst/>
              <a:cxnLst/>
              <a:rect r="r" b="b" t="t" l="l"/>
              <a:pathLst>
                <a:path h="640104" w="1293588">
                  <a:moveTo>
                    <a:pt x="36254" y="0"/>
                  </a:moveTo>
                  <a:lnTo>
                    <a:pt x="1257334" y="0"/>
                  </a:lnTo>
                  <a:cubicBezTo>
                    <a:pt x="1277356" y="0"/>
                    <a:pt x="1293588" y="16231"/>
                    <a:pt x="1293588" y="36254"/>
                  </a:cubicBezTo>
                  <a:lnTo>
                    <a:pt x="1293588" y="603850"/>
                  </a:lnTo>
                  <a:cubicBezTo>
                    <a:pt x="1293588" y="613466"/>
                    <a:pt x="1289768" y="622687"/>
                    <a:pt x="1282969" y="629486"/>
                  </a:cubicBezTo>
                  <a:cubicBezTo>
                    <a:pt x="1276170" y="636285"/>
                    <a:pt x="1266949" y="640104"/>
                    <a:pt x="1257334" y="640104"/>
                  </a:cubicBezTo>
                  <a:lnTo>
                    <a:pt x="36254" y="640104"/>
                  </a:lnTo>
                  <a:cubicBezTo>
                    <a:pt x="26639" y="640104"/>
                    <a:pt x="17417" y="636285"/>
                    <a:pt x="10619" y="629486"/>
                  </a:cubicBezTo>
                  <a:cubicBezTo>
                    <a:pt x="3820" y="622687"/>
                    <a:pt x="0" y="613466"/>
                    <a:pt x="0" y="603850"/>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14" id="14"/>
            <p:cNvSpPr txBox="true"/>
            <p:nvPr/>
          </p:nvSpPr>
          <p:spPr>
            <a:xfrm>
              <a:off x="0" y="-47625"/>
              <a:ext cx="1293588" cy="687729"/>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7168090" y="4835161"/>
            <a:ext cx="3953358" cy="12439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Intelligent analysis using Machine Learning algorithms.</a:t>
            </a:r>
          </a:p>
        </p:txBody>
      </p:sp>
      <p:grpSp>
        <p:nvGrpSpPr>
          <p:cNvPr name="Group 16" id="16"/>
          <p:cNvGrpSpPr/>
          <p:nvPr/>
        </p:nvGrpSpPr>
        <p:grpSpPr>
          <a:xfrm rot="0">
            <a:off x="6688204" y="6921661"/>
            <a:ext cx="4911591" cy="2336639"/>
            <a:chOff x="0" y="0"/>
            <a:chExt cx="1293588" cy="615411"/>
          </a:xfrm>
        </p:grpSpPr>
        <p:sp>
          <p:nvSpPr>
            <p:cNvPr name="Freeform 17" id="17"/>
            <p:cNvSpPr/>
            <p:nvPr/>
          </p:nvSpPr>
          <p:spPr>
            <a:xfrm flipH="false" flipV="false" rot="0">
              <a:off x="0" y="0"/>
              <a:ext cx="1293588" cy="615411"/>
            </a:xfrm>
            <a:custGeom>
              <a:avLst/>
              <a:gdLst/>
              <a:ahLst/>
              <a:cxnLst/>
              <a:rect r="r" b="b" t="t" l="l"/>
              <a:pathLst>
                <a:path h="615411" w="1293588">
                  <a:moveTo>
                    <a:pt x="36254" y="0"/>
                  </a:moveTo>
                  <a:lnTo>
                    <a:pt x="1257334" y="0"/>
                  </a:lnTo>
                  <a:cubicBezTo>
                    <a:pt x="1277356" y="0"/>
                    <a:pt x="1293588" y="16231"/>
                    <a:pt x="1293588" y="36254"/>
                  </a:cubicBezTo>
                  <a:lnTo>
                    <a:pt x="1293588" y="579157"/>
                  </a:lnTo>
                  <a:cubicBezTo>
                    <a:pt x="1293588" y="588772"/>
                    <a:pt x="1289768" y="597994"/>
                    <a:pt x="1282969" y="604793"/>
                  </a:cubicBezTo>
                  <a:cubicBezTo>
                    <a:pt x="1276170" y="611592"/>
                    <a:pt x="1266949" y="615411"/>
                    <a:pt x="1257334" y="615411"/>
                  </a:cubicBezTo>
                  <a:lnTo>
                    <a:pt x="36254" y="615411"/>
                  </a:lnTo>
                  <a:cubicBezTo>
                    <a:pt x="26639" y="615411"/>
                    <a:pt x="17417" y="611592"/>
                    <a:pt x="10619" y="604793"/>
                  </a:cubicBezTo>
                  <a:cubicBezTo>
                    <a:pt x="3820" y="597994"/>
                    <a:pt x="0" y="588772"/>
                    <a:pt x="0" y="579157"/>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18" id="18"/>
            <p:cNvSpPr txBox="true"/>
            <p:nvPr/>
          </p:nvSpPr>
          <p:spPr>
            <a:xfrm>
              <a:off x="0" y="-47625"/>
              <a:ext cx="1293588" cy="663036"/>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7038964" y="7653735"/>
            <a:ext cx="4211610" cy="8248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Reduced manual effort in stock market analysis.</a:t>
            </a:r>
          </a:p>
        </p:txBody>
      </p:sp>
      <p:grpSp>
        <p:nvGrpSpPr>
          <p:cNvPr name="Group 20" id="20"/>
          <p:cNvGrpSpPr/>
          <p:nvPr/>
        </p:nvGrpSpPr>
        <p:grpSpPr>
          <a:xfrm rot="0">
            <a:off x="11942696" y="4265758"/>
            <a:ext cx="4911591" cy="2430396"/>
            <a:chOff x="0" y="0"/>
            <a:chExt cx="1293588" cy="640104"/>
          </a:xfrm>
        </p:grpSpPr>
        <p:sp>
          <p:nvSpPr>
            <p:cNvPr name="Freeform 21" id="21"/>
            <p:cNvSpPr/>
            <p:nvPr/>
          </p:nvSpPr>
          <p:spPr>
            <a:xfrm flipH="false" flipV="false" rot="0">
              <a:off x="0" y="0"/>
              <a:ext cx="1293588" cy="640104"/>
            </a:xfrm>
            <a:custGeom>
              <a:avLst/>
              <a:gdLst/>
              <a:ahLst/>
              <a:cxnLst/>
              <a:rect r="r" b="b" t="t" l="l"/>
              <a:pathLst>
                <a:path h="640104" w="1293588">
                  <a:moveTo>
                    <a:pt x="36254" y="0"/>
                  </a:moveTo>
                  <a:lnTo>
                    <a:pt x="1257334" y="0"/>
                  </a:lnTo>
                  <a:cubicBezTo>
                    <a:pt x="1277356" y="0"/>
                    <a:pt x="1293588" y="16231"/>
                    <a:pt x="1293588" y="36254"/>
                  </a:cubicBezTo>
                  <a:lnTo>
                    <a:pt x="1293588" y="603850"/>
                  </a:lnTo>
                  <a:cubicBezTo>
                    <a:pt x="1293588" y="613466"/>
                    <a:pt x="1289768" y="622687"/>
                    <a:pt x="1282969" y="629486"/>
                  </a:cubicBezTo>
                  <a:cubicBezTo>
                    <a:pt x="1276170" y="636285"/>
                    <a:pt x="1266949" y="640104"/>
                    <a:pt x="1257334" y="640104"/>
                  </a:cubicBezTo>
                  <a:lnTo>
                    <a:pt x="36254" y="640104"/>
                  </a:lnTo>
                  <a:cubicBezTo>
                    <a:pt x="26639" y="640104"/>
                    <a:pt x="17417" y="636285"/>
                    <a:pt x="10619" y="629486"/>
                  </a:cubicBezTo>
                  <a:cubicBezTo>
                    <a:pt x="3820" y="622687"/>
                    <a:pt x="0" y="613466"/>
                    <a:pt x="0" y="603850"/>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22" id="22"/>
            <p:cNvSpPr txBox="true"/>
            <p:nvPr/>
          </p:nvSpPr>
          <p:spPr>
            <a:xfrm>
              <a:off x="0" y="-47625"/>
              <a:ext cx="1293588" cy="687729"/>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12421812" y="5044711"/>
            <a:ext cx="3953358" cy="8248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Interactive dashboard with graphs and market trends.</a:t>
            </a:r>
          </a:p>
        </p:txBody>
      </p:sp>
      <p:grpSp>
        <p:nvGrpSpPr>
          <p:cNvPr name="Group 24" id="24"/>
          <p:cNvGrpSpPr/>
          <p:nvPr/>
        </p:nvGrpSpPr>
        <p:grpSpPr>
          <a:xfrm rot="0">
            <a:off x="11942696" y="6921661"/>
            <a:ext cx="4911591" cy="2336639"/>
            <a:chOff x="0" y="0"/>
            <a:chExt cx="1293588" cy="615411"/>
          </a:xfrm>
        </p:grpSpPr>
        <p:sp>
          <p:nvSpPr>
            <p:cNvPr name="Freeform 25" id="25"/>
            <p:cNvSpPr/>
            <p:nvPr/>
          </p:nvSpPr>
          <p:spPr>
            <a:xfrm flipH="false" flipV="false" rot="0">
              <a:off x="0" y="0"/>
              <a:ext cx="1293588" cy="615411"/>
            </a:xfrm>
            <a:custGeom>
              <a:avLst/>
              <a:gdLst/>
              <a:ahLst/>
              <a:cxnLst/>
              <a:rect r="r" b="b" t="t" l="l"/>
              <a:pathLst>
                <a:path h="615411" w="1293588">
                  <a:moveTo>
                    <a:pt x="36254" y="0"/>
                  </a:moveTo>
                  <a:lnTo>
                    <a:pt x="1257334" y="0"/>
                  </a:lnTo>
                  <a:cubicBezTo>
                    <a:pt x="1277356" y="0"/>
                    <a:pt x="1293588" y="16231"/>
                    <a:pt x="1293588" y="36254"/>
                  </a:cubicBezTo>
                  <a:lnTo>
                    <a:pt x="1293588" y="579157"/>
                  </a:lnTo>
                  <a:cubicBezTo>
                    <a:pt x="1293588" y="588772"/>
                    <a:pt x="1289768" y="597994"/>
                    <a:pt x="1282969" y="604793"/>
                  </a:cubicBezTo>
                  <a:cubicBezTo>
                    <a:pt x="1276170" y="611592"/>
                    <a:pt x="1266949" y="615411"/>
                    <a:pt x="1257334" y="615411"/>
                  </a:cubicBezTo>
                  <a:lnTo>
                    <a:pt x="36254" y="615411"/>
                  </a:lnTo>
                  <a:cubicBezTo>
                    <a:pt x="26639" y="615411"/>
                    <a:pt x="17417" y="611592"/>
                    <a:pt x="10619" y="604793"/>
                  </a:cubicBezTo>
                  <a:cubicBezTo>
                    <a:pt x="3820" y="597994"/>
                    <a:pt x="0" y="588772"/>
                    <a:pt x="0" y="579157"/>
                  </a:cubicBezTo>
                  <a:lnTo>
                    <a:pt x="0" y="36254"/>
                  </a:lnTo>
                  <a:cubicBezTo>
                    <a:pt x="0" y="26639"/>
                    <a:pt x="3820" y="17417"/>
                    <a:pt x="10619" y="10619"/>
                  </a:cubicBezTo>
                  <a:cubicBezTo>
                    <a:pt x="17417" y="3820"/>
                    <a:pt x="26639" y="0"/>
                    <a:pt x="36254" y="0"/>
                  </a:cubicBezTo>
                  <a:close/>
                </a:path>
              </a:pathLst>
            </a:custGeom>
            <a:solidFill>
              <a:srgbClr val="141A1F">
                <a:alpha val="81961"/>
              </a:srgbClr>
            </a:solidFill>
            <a:ln w="47625" cap="rnd">
              <a:solidFill>
                <a:srgbClr val="BEC2C7">
                  <a:alpha val="81961"/>
                </a:srgbClr>
              </a:solidFill>
              <a:prstDash val="solid"/>
              <a:round/>
            </a:ln>
          </p:spPr>
        </p:sp>
        <p:sp>
          <p:nvSpPr>
            <p:cNvPr name="TextBox 26" id="26"/>
            <p:cNvSpPr txBox="true"/>
            <p:nvPr/>
          </p:nvSpPr>
          <p:spPr>
            <a:xfrm>
              <a:off x="0" y="-47625"/>
              <a:ext cx="1293588" cy="663036"/>
            </a:xfrm>
            <a:prstGeom prst="rect">
              <a:avLst/>
            </a:prstGeom>
          </p:spPr>
          <p:txBody>
            <a:bodyPr anchor="ctr" rtlCol="false" tIns="50800" lIns="50800" bIns="50800" rIns="50800"/>
            <a:lstStyle/>
            <a:p>
              <a:pPr algn="ctr">
                <a:lnSpc>
                  <a:spcPts val="2659"/>
                </a:lnSpc>
                <a:spcBef>
                  <a:spcPct val="0"/>
                </a:spcBef>
              </a:pPr>
            </a:p>
          </p:txBody>
        </p:sp>
      </p:grpSp>
      <p:sp>
        <p:nvSpPr>
          <p:cNvPr name="TextBox 27" id="27"/>
          <p:cNvSpPr txBox="true"/>
          <p:nvPr/>
        </p:nvSpPr>
        <p:spPr>
          <a:xfrm rot="0">
            <a:off x="12292686" y="7444185"/>
            <a:ext cx="4211610" cy="1243965"/>
          </a:xfrm>
          <a:prstGeom prst="rect">
            <a:avLst/>
          </a:prstGeom>
        </p:spPr>
        <p:txBody>
          <a:bodyPr anchor="t" rtlCol="false" tIns="0" lIns="0" bIns="0" rIns="0">
            <a:spAutoFit/>
          </a:bodyPr>
          <a:lstStyle/>
          <a:p>
            <a:pPr algn="ctr">
              <a:lnSpc>
                <a:spcPts val="3359"/>
              </a:lnSpc>
            </a:pPr>
            <a:r>
              <a:rPr lang="en-US" sz="2399">
                <a:solidFill>
                  <a:srgbClr val="FFFFFF"/>
                </a:solidFill>
                <a:latin typeface="TT Hoves"/>
                <a:ea typeface="TT Hoves"/>
                <a:cs typeface="TT Hoves"/>
                <a:sym typeface="TT Hoves"/>
              </a:rPr>
              <a:t>Buy / Hold / Sell recommendations based on predictions.</a:t>
            </a:r>
          </a:p>
        </p:txBody>
      </p:sp>
      <p:sp>
        <p:nvSpPr>
          <p:cNvPr name="TextBox 28" id="28"/>
          <p:cNvSpPr txBox="true"/>
          <p:nvPr/>
        </p:nvSpPr>
        <p:spPr>
          <a:xfrm rot="0">
            <a:off x="1435251" y="1962611"/>
            <a:ext cx="15419036" cy="1362711"/>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TT Hoves"/>
                <a:ea typeface="TT Hoves"/>
                <a:cs typeface="TT Hoves"/>
                <a:sym typeface="TT Hoves"/>
              </a:rPr>
              <a:t>Bull Sight is expected t</a:t>
            </a:r>
            <a:r>
              <a:rPr lang="en-US" sz="2599">
                <a:solidFill>
                  <a:srgbClr val="FFFFFF"/>
                </a:solidFill>
                <a:latin typeface="TT Hoves"/>
                <a:ea typeface="TT Hoves"/>
                <a:cs typeface="TT Hoves"/>
                <a:sym typeface="TT Hoves"/>
              </a:rPr>
              <a:t>o accurately predict future stock prices by analyzing historical market data using Machine Learning algorithms. The system will help investors understand market trends and make informed investment decisions through an interactive dashboard.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13103633" y="2990851"/>
            <a:ext cx="4155667" cy="6384404"/>
          </a:xfrm>
          <a:custGeom>
            <a:avLst/>
            <a:gdLst/>
            <a:ahLst/>
            <a:cxnLst/>
            <a:rect r="r" b="b" t="t" l="l"/>
            <a:pathLst>
              <a:path h="6384404" w="4155667">
                <a:moveTo>
                  <a:pt x="0" y="0"/>
                </a:moveTo>
                <a:lnTo>
                  <a:pt x="4155667" y="0"/>
                </a:lnTo>
                <a:lnTo>
                  <a:pt x="4155667" y="6384404"/>
                </a:lnTo>
                <a:lnTo>
                  <a:pt x="0" y="6384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3824070" y="535171"/>
            <a:ext cx="4027231" cy="7968568"/>
            <a:chOff x="0" y="0"/>
            <a:chExt cx="2620010" cy="5184140"/>
          </a:xfrm>
        </p:grpSpPr>
        <p:sp>
          <p:nvSpPr>
            <p:cNvPr name="Freeform 4" id="4"/>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 id="5"/>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175888" t="0" r="-48760" b="0"/>
              </a:stretch>
            </a:blipFill>
          </p:spPr>
        </p:sp>
        <p:sp>
          <p:nvSpPr>
            <p:cNvPr name="Freeform 6" id="6"/>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7" id="7"/>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8" id="8"/>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9" id="9"/>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10" id="10"/>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11" id="11"/>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12" id="12"/>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name="TextBox 13" id="13"/>
          <p:cNvSpPr txBox="true"/>
          <p:nvPr/>
        </p:nvSpPr>
        <p:spPr>
          <a:xfrm rot="0">
            <a:off x="1028700" y="461962"/>
            <a:ext cx="4191941"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Advantages</a:t>
            </a:r>
          </a:p>
        </p:txBody>
      </p:sp>
      <p:sp>
        <p:nvSpPr>
          <p:cNvPr name="TextBox 14" id="14"/>
          <p:cNvSpPr txBox="true"/>
          <p:nvPr/>
        </p:nvSpPr>
        <p:spPr>
          <a:xfrm rot="0">
            <a:off x="1028700" y="1635818"/>
            <a:ext cx="11101124" cy="8220710"/>
          </a:xfrm>
          <a:prstGeom prst="rect">
            <a:avLst/>
          </a:prstGeom>
        </p:spPr>
        <p:txBody>
          <a:bodyPr anchor="t" rtlCol="false" tIns="0" lIns="0" bIns="0" rIns="0">
            <a:spAutoFit/>
          </a:bodyPr>
          <a:lstStyle/>
          <a:p>
            <a:pPr algn="l">
              <a:lnSpc>
                <a:spcPts val="3639"/>
              </a:lnSpc>
            </a:pPr>
            <a:r>
              <a:rPr lang="en-US" sz="2599" b="true">
                <a:solidFill>
                  <a:srgbClr val="B2B2B2"/>
                </a:solidFill>
                <a:latin typeface="TT Hoves Bold"/>
                <a:ea typeface="TT Hoves Bold"/>
                <a:cs typeface="TT Hoves Bold"/>
                <a:sym typeface="TT Hoves Bold"/>
              </a:rPr>
              <a:t>Accurate Stock Price Prediction:</a:t>
            </a:r>
          </a:p>
          <a:p>
            <a:pPr algn="l" marL="561337" indent="-280669" lvl="1">
              <a:lnSpc>
                <a:spcPts val="3639"/>
              </a:lnSpc>
              <a:buFont typeface="Arial"/>
              <a:buChar char="•"/>
            </a:pPr>
            <a:r>
              <a:rPr lang="en-US" sz="2599">
                <a:solidFill>
                  <a:srgbClr val="FFFFFF"/>
                </a:solidFill>
                <a:latin typeface="TT Hoves"/>
                <a:ea typeface="TT Hoves"/>
                <a:cs typeface="TT Hoves"/>
                <a:sym typeface="TT Hoves"/>
              </a:rPr>
              <a:t>Uses Machine Learning algorithms to improve prediction accuracy.</a:t>
            </a:r>
          </a:p>
          <a:p>
            <a:pPr algn="l">
              <a:lnSpc>
                <a:spcPts val="3639"/>
              </a:lnSpc>
            </a:pPr>
            <a:r>
              <a:rPr lang="en-US" sz="2599" b="true">
                <a:solidFill>
                  <a:srgbClr val="B2B2B2"/>
                </a:solidFill>
                <a:latin typeface="TT Hoves Bold"/>
                <a:ea typeface="TT Hoves Bold"/>
                <a:cs typeface="TT Hoves Bold"/>
                <a:sym typeface="TT Hoves Bold"/>
              </a:rPr>
              <a:t>Fast Data Analysis:</a:t>
            </a:r>
          </a:p>
          <a:p>
            <a:pPr algn="l" marL="561337" indent="-280669" lvl="1">
              <a:lnSpc>
                <a:spcPts val="3639"/>
              </a:lnSpc>
              <a:buFont typeface="Arial"/>
              <a:buChar char="•"/>
            </a:pPr>
            <a:r>
              <a:rPr lang="en-US" sz="2599">
                <a:solidFill>
                  <a:srgbClr val="FFFFFF"/>
                </a:solidFill>
                <a:latin typeface="TT Hoves"/>
                <a:ea typeface="TT Hoves"/>
                <a:cs typeface="TT Hoves"/>
                <a:sym typeface="TT Hoves"/>
              </a:rPr>
              <a:t>Processes large volumes of historical stock data in a short time.</a:t>
            </a:r>
          </a:p>
          <a:p>
            <a:pPr algn="l">
              <a:lnSpc>
                <a:spcPts val="3639"/>
              </a:lnSpc>
            </a:pPr>
            <a:r>
              <a:rPr lang="en-US" sz="2599" b="true">
                <a:solidFill>
                  <a:srgbClr val="B2B2B2"/>
                </a:solidFill>
                <a:latin typeface="TT Hoves Bold"/>
                <a:ea typeface="TT Hoves Bold"/>
                <a:cs typeface="TT Hoves Bold"/>
                <a:sym typeface="TT Hoves Bold"/>
              </a:rPr>
              <a:t>AI-Powered Decision Support:</a:t>
            </a:r>
          </a:p>
          <a:p>
            <a:pPr algn="l" marL="561337" indent="-280669" lvl="1">
              <a:lnSpc>
                <a:spcPts val="3639"/>
              </a:lnSpc>
              <a:buFont typeface="Arial"/>
              <a:buChar char="•"/>
            </a:pPr>
            <a:r>
              <a:rPr lang="en-US" sz="2599">
                <a:solidFill>
                  <a:srgbClr val="FFFFFF"/>
                </a:solidFill>
                <a:latin typeface="TT Hoves"/>
                <a:ea typeface="TT Hoves"/>
                <a:cs typeface="TT Hoves"/>
                <a:sym typeface="TT Hoves"/>
              </a:rPr>
              <a:t>Provides intelligent insights based on market trends and technical indicators.</a:t>
            </a:r>
          </a:p>
          <a:p>
            <a:pPr algn="l">
              <a:lnSpc>
                <a:spcPts val="3639"/>
              </a:lnSpc>
            </a:pPr>
            <a:r>
              <a:rPr lang="en-US" sz="2599" b="true">
                <a:solidFill>
                  <a:srgbClr val="B2B2B2"/>
                </a:solidFill>
                <a:latin typeface="TT Hoves Bold"/>
                <a:ea typeface="TT Hoves Bold"/>
                <a:cs typeface="TT Hoves Bold"/>
                <a:sym typeface="TT Hoves Bold"/>
              </a:rPr>
              <a:t>Investment Recommendations:</a:t>
            </a:r>
          </a:p>
          <a:p>
            <a:pPr algn="l" marL="561337" indent="-280669" lvl="1">
              <a:lnSpc>
                <a:spcPts val="3639"/>
              </a:lnSpc>
              <a:buFont typeface="Arial"/>
              <a:buChar char="•"/>
            </a:pPr>
            <a:r>
              <a:rPr lang="en-US" sz="2599">
                <a:solidFill>
                  <a:srgbClr val="FFFFFF"/>
                </a:solidFill>
                <a:latin typeface="TT Hoves"/>
                <a:ea typeface="TT Hoves"/>
                <a:cs typeface="TT Hoves"/>
                <a:sym typeface="TT Hoves"/>
              </a:rPr>
              <a:t>Generates Buy, Hold, or Sell suggestions to support investors.</a:t>
            </a:r>
          </a:p>
          <a:p>
            <a:pPr algn="l">
              <a:lnSpc>
                <a:spcPts val="3639"/>
              </a:lnSpc>
            </a:pPr>
            <a:r>
              <a:rPr lang="en-US" sz="2599" b="true">
                <a:solidFill>
                  <a:srgbClr val="B2B2B2"/>
                </a:solidFill>
                <a:latin typeface="TT Hoves Bold"/>
                <a:ea typeface="TT Hoves Bold"/>
                <a:cs typeface="TT Hoves Bold"/>
                <a:sym typeface="TT Hoves Bold"/>
              </a:rPr>
              <a:t>Interactive Dashboard:</a:t>
            </a:r>
          </a:p>
          <a:p>
            <a:pPr algn="l" marL="561337" indent="-280669" lvl="1">
              <a:lnSpc>
                <a:spcPts val="3639"/>
              </a:lnSpc>
              <a:buFont typeface="Arial"/>
              <a:buChar char="•"/>
            </a:pPr>
            <a:r>
              <a:rPr lang="en-US" sz="2599">
                <a:solidFill>
                  <a:srgbClr val="FFFFFF"/>
                </a:solidFill>
                <a:latin typeface="TT Hoves"/>
                <a:ea typeface="TT Hoves"/>
                <a:cs typeface="TT Hoves"/>
                <a:sym typeface="TT Hoves"/>
              </a:rPr>
              <a:t>Displays predictions, trends, charts, and performance metrics in a user-friendly interface.</a:t>
            </a:r>
          </a:p>
          <a:p>
            <a:pPr algn="l">
              <a:lnSpc>
                <a:spcPts val="3639"/>
              </a:lnSpc>
            </a:pPr>
            <a:r>
              <a:rPr lang="en-US" sz="2599" b="true">
                <a:solidFill>
                  <a:srgbClr val="B2B2B2"/>
                </a:solidFill>
                <a:latin typeface="TT Hoves Bold"/>
                <a:ea typeface="TT Hoves Bold"/>
                <a:cs typeface="TT Hoves Bold"/>
                <a:sym typeface="TT Hoves Bold"/>
              </a:rPr>
              <a:t>Reduced Human Error:</a:t>
            </a:r>
          </a:p>
          <a:p>
            <a:pPr algn="l" marL="561337" indent="-280669" lvl="1">
              <a:lnSpc>
                <a:spcPts val="3639"/>
              </a:lnSpc>
              <a:buFont typeface="Arial"/>
              <a:buChar char="•"/>
            </a:pPr>
            <a:r>
              <a:rPr lang="en-US" sz="2599">
                <a:solidFill>
                  <a:srgbClr val="FFFFFF"/>
                </a:solidFill>
                <a:latin typeface="TT Hoves"/>
                <a:ea typeface="TT Hoves"/>
                <a:cs typeface="TT Hoves"/>
                <a:sym typeface="TT Hoves"/>
              </a:rPr>
              <a:t>Minimizes manual analysis and emotional bias in investment decisions.</a:t>
            </a:r>
          </a:p>
          <a:p>
            <a:pPr algn="l">
              <a:lnSpc>
                <a:spcPts val="3639"/>
              </a:lnSpc>
            </a:pPr>
            <a:r>
              <a:rPr lang="en-US" sz="2599" b="true">
                <a:solidFill>
                  <a:srgbClr val="B2B2B2"/>
                </a:solidFill>
                <a:latin typeface="TT Hoves Bold"/>
                <a:ea typeface="TT Hoves Bold"/>
                <a:cs typeface="TT Hoves Bold"/>
                <a:sym typeface="TT Hoves Bold"/>
              </a:rPr>
              <a:t>Scalable &amp; User-Friendly:</a:t>
            </a:r>
          </a:p>
          <a:p>
            <a:pPr algn="l" marL="561337" indent="-280669" lvl="1">
              <a:lnSpc>
                <a:spcPts val="3639"/>
              </a:lnSpc>
              <a:buFont typeface="Arial"/>
              <a:buChar char="•"/>
            </a:pPr>
            <a:r>
              <a:rPr lang="en-US" sz="2599">
                <a:solidFill>
                  <a:srgbClr val="FFFFFF"/>
                </a:solidFill>
                <a:latin typeface="TT Hoves"/>
                <a:ea typeface="TT Hoves"/>
                <a:cs typeface="TT Hoves"/>
                <a:sym typeface="TT Hoves"/>
              </a:rPr>
              <a:t>Can be enhanced with real-time data, news analysis, and additional stock exchanges in the future.</a:t>
            </a:r>
          </a:p>
          <a:p>
            <a:pPr algn="l">
              <a:lnSpc>
                <a:spcPts val="363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grpSp>
        <p:nvGrpSpPr>
          <p:cNvPr name="Group 2" id="2"/>
          <p:cNvGrpSpPr/>
          <p:nvPr/>
        </p:nvGrpSpPr>
        <p:grpSpPr>
          <a:xfrm rot="0">
            <a:off x="0" y="-27760"/>
            <a:ext cx="8343913" cy="11375203"/>
            <a:chOff x="0" y="0"/>
            <a:chExt cx="2197574" cy="2995938"/>
          </a:xfrm>
        </p:grpSpPr>
        <p:sp>
          <p:nvSpPr>
            <p:cNvPr name="Freeform 3" id="3"/>
            <p:cNvSpPr/>
            <p:nvPr/>
          </p:nvSpPr>
          <p:spPr>
            <a:xfrm flipH="false" flipV="false" rot="0">
              <a:off x="0" y="0"/>
              <a:ext cx="2197574" cy="2995938"/>
            </a:xfrm>
            <a:custGeom>
              <a:avLst/>
              <a:gdLst/>
              <a:ahLst/>
              <a:cxnLst/>
              <a:rect r="r" b="b" t="t" l="l"/>
              <a:pathLst>
                <a:path h="2995938" w="2197574">
                  <a:moveTo>
                    <a:pt x="0" y="0"/>
                  </a:moveTo>
                  <a:lnTo>
                    <a:pt x="2197574" y="0"/>
                  </a:lnTo>
                  <a:lnTo>
                    <a:pt x="2197574" y="2995938"/>
                  </a:lnTo>
                  <a:lnTo>
                    <a:pt x="0" y="2995938"/>
                  </a:lnTo>
                  <a:close/>
                </a:path>
              </a:pathLst>
            </a:custGeom>
            <a:gradFill rotWithShape="true">
              <a:gsLst>
                <a:gs pos="0">
                  <a:srgbClr val="000000">
                    <a:alpha val="100000"/>
                  </a:srgbClr>
                </a:gs>
                <a:gs pos="100000">
                  <a:srgbClr val="33CD91">
                    <a:alpha val="100000"/>
                  </a:srgbClr>
                </a:gs>
              </a:gsLst>
              <a:lin ang="0"/>
            </a:gradFill>
          </p:spPr>
        </p:sp>
        <p:sp>
          <p:nvSpPr>
            <p:cNvPr name="TextBox 4" id="4"/>
            <p:cNvSpPr txBox="true"/>
            <p:nvPr/>
          </p:nvSpPr>
          <p:spPr>
            <a:xfrm>
              <a:off x="0" y="-47625"/>
              <a:ext cx="2197574" cy="3043563"/>
            </a:xfrm>
            <a:prstGeom prst="rect">
              <a:avLst/>
            </a:prstGeom>
          </p:spPr>
          <p:txBody>
            <a:bodyPr anchor="ctr" rtlCol="false" tIns="50800" lIns="50800" bIns="50800" rIns="50800"/>
            <a:lstStyle/>
            <a:p>
              <a:pPr algn="ctr">
                <a:lnSpc>
                  <a:spcPts val="2940"/>
                </a:lnSpc>
              </a:pPr>
            </a:p>
          </p:txBody>
        </p:sp>
      </p:grpSp>
      <p:grpSp>
        <p:nvGrpSpPr>
          <p:cNvPr name="Group 5" id="5"/>
          <p:cNvGrpSpPr>
            <a:grpSpLocks noChangeAspect="true"/>
          </p:cNvGrpSpPr>
          <p:nvPr/>
        </p:nvGrpSpPr>
        <p:grpSpPr>
          <a:xfrm rot="0">
            <a:off x="1163815" y="1255150"/>
            <a:ext cx="6016283" cy="11904250"/>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43488" t="0" r="-81159" b="0"/>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name="Freeform 15" id="15"/>
          <p:cNvSpPr/>
          <p:nvPr/>
        </p:nvSpPr>
        <p:spPr>
          <a:xfrm flipH="false" flipV="false" rot="1184394">
            <a:off x="14174609" y="3257549"/>
            <a:ext cx="8379362" cy="8089893"/>
          </a:xfrm>
          <a:custGeom>
            <a:avLst/>
            <a:gdLst/>
            <a:ahLst/>
            <a:cxnLst/>
            <a:rect r="r" b="b" t="t" l="l"/>
            <a:pathLst>
              <a:path h="8089893" w="8379362">
                <a:moveTo>
                  <a:pt x="0" y="0"/>
                </a:moveTo>
                <a:lnTo>
                  <a:pt x="8379362" y="0"/>
                </a:lnTo>
                <a:lnTo>
                  <a:pt x="8379362" y="8089893"/>
                </a:lnTo>
                <a:lnTo>
                  <a:pt x="0" y="80898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9144000" y="752230"/>
            <a:ext cx="7048884" cy="958215"/>
          </a:xfrm>
          <a:prstGeom prst="rect">
            <a:avLst/>
          </a:prstGeom>
        </p:spPr>
        <p:txBody>
          <a:bodyPr anchor="t" rtlCol="false" tIns="0" lIns="0" bIns="0" rIns="0">
            <a:spAutoFit/>
          </a:bodyPr>
          <a:lstStyle/>
          <a:p>
            <a:pPr algn="ctr">
              <a:lnSpc>
                <a:spcPts val="7679"/>
              </a:lnSpc>
            </a:pPr>
            <a:r>
              <a:rPr lang="en-US" sz="5999">
                <a:solidFill>
                  <a:srgbClr val="75FF82"/>
                </a:solidFill>
                <a:latin typeface="TT Hoves"/>
                <a:ea typeface="TT Hoves"/>
                <a:cs typeface="TT Hoves"/>
                <a:sym typeface="TT Hoves"/>
              </a:rPr>
              <a:t>Milestones Achieved</a:t>
            </a:r>
          </a:p>
        </p:txBody>
      </p:sp>
      <p:sp>
        <p:nvSpPr>
          <p:cNvPr name="TextBox 17" id="17"/>
          <p:cNvSpPr txBox="true"/>
          <p:nvPr/>
        </p:nvSpPr>
        <p:spPr>
          <a:xfrm rot="0">
            <a:off x="8945048" y="2246748"/>
            <a:ext cx="9256921" cy="7011552"/>
          </a:xfrm>
          <a:prstGeom prst="rect">
            <a:avLst/>
          </a:prstGeom>
        </p:spPr>
        <p:txBody>
          <a:bodyPr anchor="t" rtlCol="false" tIns="0" lIns="0" bIns="0" rIns="0">
            <a:spAutoFit/>
          </a:bodyPr>
          <a:lstStyle/>
          <a:p>
            <a:pPr algn="l" marL="614835" indent="-307418" lvl="1">
              <a:lnSpc>
                <a:spcPts val="3986"/>
              </a:lnSpc>
              <a:buFont typeface="Arial"/>
              <a:buChar char="•"/>
            </a:pPr>
            <a:r>
              <a:rPr lang="en-US" sz="2847">
                <a:solidFill>
                  <a:srgbClr val="FFFFFF"/>
                </a:solidFill>
                <a:latin typeface="TT Hoves"/>
                <a:ea typeface="TT Hoves"/>
                <a:cs typeface="TT Hoves"/>
                <a:sym typeface="TT Hoves"/>
              </a:rPr>
              <a:t>Finalized the project title, problem statement, and objectives.</a:t>
            </a:r>
          </a:p>
          <a:p>
            <a:pPr algn="l" marL="614835" indent="-307418" lvl="1">
              <a:lnSpc>
                <a:spcPts val="3986"/>
              </a:lnSpc>
              <a:buFont typeface="Arial"/>
              <a:buChar char="•"/>
            </a:pPr>
            <a:r>
              <a:rPr lang="en-US" sz="2847">
                <a:solidFill>
                  <a:srgbClr val="FFFFFF"/>
                </a:solidFill>
                <a:latin typeface="TT Hoves"/>
                <a:ea typeface="TT Hoves"/>
                <a:cs typeface="TT Hoves"/>
                <a:sym typeface="TT Hoves"/>
              </a:rPr>
              <a:t>Conducted a literature survey on stock market prediction using Machine Learning.</a:t>
            </a:r>
          </a:p>
          <a:p>
            <a:pPr algn="l" marL="614835" indent="-307418" lvl="1">
              <a:lnSpc>
                <a:spcPts val="3986"/>
              </a:lnSpc>
              <a:buFont typeface="Arial"/>
              <a:buChar char="•"/>
            </a:pPr>
            <a:r>
              <a:rPr lang="en-US" sz="2847">
                <a:solidFill>
                  <a:srgbClr val="FFFFFF"/>
                </a:solidFill>
                <a:latin typeface="TT Hoves"/>
                <a:ea typeface="TT Hoves"/>
                <a:cs typeface="TT Hoves"/>
                <a:sym typeface="TT Hoves"/>
              </a:rPr>
              <a:t>Sel</a:t>
            </a:r>
            <a:r>
              <a:rPr lang="en-US" sz="2847">
                <a:solidFill>
                  <a:srgbClr val="FFFFFF"/>
                </a:solidFill>
                <a:latin typeface="TT Hoves"/>
                <a:ea typeface="TT Hoves"/>
                <a:cs typeface="TT Hoves"/>
                <a:sym typeface="TT Hoves"/>
              </a:rPr>
              <a:t>ected the Yahoo Finance dataset and identified key stock market attributes.</a:t>
            </a:r>
          </a:p>
          <a:p>
            <a:pPr algn="l" marL="614835" indent="-307418" lvl="1">
              <a:lnSpc>
                <a:spcPts val="3986"/>
              </a:lnSpc>
              <a:buFont typeface="Arial"/>
              <a:buChar char="•"/>
            </a:pPr>
            <a:r>
              <a:rPr lang="en-US" sz="2847">
                <a:solidFill>
                  <a:srgbClr val="FFFFFF"/>
                </a:solidFill>
                <a:latin typeface="TT Hoves"/>
                <a:ea typeface="TT Hoves"/>
                <a:cs typeface="TT Hoves"/>
                <a:sym typeface="TT Hoves"/>
              </a:rPr>
              <a:t>Selected</a:t>
            </a:r>
            <a:r>
              <a:rPr lang="en-US" sz="2847">
                <a:solidFill>
                  <a:srgbClr val="FFFFFF"/>
                </a:solidFill>
                <a:latin typeface="TT Hoves"/>
                <a:ea typeface="TT Hoves"/>
                <a:cs typeface="TT Hoves"/>
                <a:sym typeface="TT Hoves"/>
              </a:rPr>
              <a:t> Machine Learning algorithms including Linear Reg</a:t>
            </a:r>
            <a:r>
              <a:rPr lang="en-US" sz="2847">
                <a:solidFill>
                  <a:srgbClr val="FFFFFF"/>
                </a:solidFill>
                <a:latin typeface="TT Hoves"/>
                <a:ea typeface="TT Hoves"/>
                <a:cs typeface="TT Hoves"/>
                <a:sym typeface="TT Hoves"/>
              </a:rPr>
              <a:t>ression, Random</a:t>
            </a:r>
            <a:r>
              <a:rPr lang="en-US" sz="2847">
                <a:solidFill>
                  <a:srgbClr val="FFFFFF"/>
                </a:solidFill>
                <a:latin typeface="TT Hoves"/>
                <a:ea typeface="TT Hoves"/>
                <a:cs typeface="TT Hoves"/>
                <a:sym typeface="TT Hoves"/>
              </a:rPr>
              <a:t> Forest, XGBoost, and LSTM for model comparison.</a:t>
            </a:r>
          </a:p>
          <a:p>
            <a:pPr algn="l" marL="614835" indent="-307418" lvl="1">
              <a:lnSpc>
                <a:spcPts val="3986"/>
              </a:lnSpc>
              <a:buFont typeface="Arial"/>
              <a:buChar char="•"/>
            </a:pPr>
            <a:r>
              <a:rPr lang="en-US" sz="2847">
                <a:solidFill>
                  <a:srgbClr val="FFFFFF"/>
                </a:solidFill>
                <a:latin typeface="TT Hoves"/>
                <a:ea typeface="TT Hoves"/>
                <a:cs typeface="TT Hoves"/>
                <a:sym typeface="TT Hoves"/>
              </a:rPr>
              <a:t>Designed the System</a:t>
            </a:r>
            <a:r>
              <a:rPr lang="en-US" sz="2847">
                <a:solidFill>
                  <a:srgbClr val="FFFFFF"/>
                </a:solidFill>
                <a:latin typeface="TT Hoves"/>
                <a:ea typeface="TT Hoves"/>
                <a:cs typeface="TT Hoves"/>
                <a:sym typeface="TT Hoves"/>
              </a:rPr>
              <a:t> Architecture Diagram and Data Flow Diagram (DFD).</a:t>
            </a:r>
          </a:p>
          <a:p>
            <a:pPr algn="l" marL="614835" indent="-307418" lvl="1">
              <a:lnSpc>
                <a:spcPts val="3986"/>
              </a:lnSpc>
              <a:buFont typeface="Arial"/>
              <a:buChar char="•"/>
            </a:pPr>
            <a:r>
              <a:rPr lang="en-US" sz="2847">
                <a:solidFill>
                  <a:srgbClr val="FFFFFF"/>
                </a:solidFill>
                <a:latin typeface="TT Hoves"/>
                <a:ea typeface="TT Hoves"/>
                <a:cs typeface="TT Hoves"/>
                <a:sym typeface="TT Hoves"/>
              </a:rPr>
              <a:t>Finalized the technology stack (Python, Pandas, NumPy, Scikit-learn, TensorFlow, React, MySQL).</a:t>
            </a:r>
          </a:p>
          <a:p>
            <a:pPr algn="l">
              <a:lnSpc>
                <a:spcPts val="3986"/>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9860150" y="1298618"/>
            <a:ext cx="8974243" cy="8180011"/>
          </a:xfrm>
          <a:prstGeom prst="rect">
            <a:avLst/>
          </a:prstGeom>
        </p:spPr>
      </p:pic>
      <p:sp>
        <p:nvSpPr>
          <p:cNvPr name="Freeform 3" id="3"/>
          <p:cNvSpPr/>
          <p:nvPr/>
        </p:nvSpPr>
        <p:spPr>
          <a:xfrm flipH="false" flipV="false" rot="0">
            <a:off x="1028700" y="8947089"/>
            <a:ext cx="6005824" cy="622422"/>
          </a:xfrm>
          <a:custGeom>
            <a:avLst/>
            <a:gdLst/>
            <a:ahLst/>
            <a:cxnLst/>
            <a:rect r="r" b="b" t="t" l="l"/>
            <a:pathLst>
              <a:path h="622422" w="6005824">
                <a:moveTo>
                  <a:pt x="0" y="0"/>
                </a:moveTo>
                <a:lnTo>
                  <a:pt x="6005824" y="0"/>
                </a:lnTo>
                <a:lnTo>
                  <a:pt x="6005824" y="622422"/>
                </a:lnTo>
                <a:lnTo>
                  <a:pt x="0" y="6224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585043"/>
            <a:ext cx="3897253" cy="1019176"/>
          </a:xfrm>
          <a:prstGeom prst="rect">
            <a:avLst/>
          </a:prstGeom>
        </p:spPr>
        <p:txBody>
          <a:bodyPr anchor="t" rtlCol="false" tIns="0" lIns="0" bIns="0" rIns="0">
            <a:spAutoFit/>
          </a:bodyPr>
          <a:lstStyle/>
          <a:p>
            <a:pPr algn="l">
              <a:lnSpc>
                <a:spcPts val="8399"/>
              </a:lnSpc>
            </a:pPr>
            <a:r>
              <a:rPr lang="en-US" sz="5999">
                <a:solidFill>
                  <a:srgbClr val="75FF82"/>
                </a:solidFill>
                <a:latin typeface="TT Hoves"/>
                <a:ea typeface="TT Hoves"/>
                <a:cs typeface="TT Hoves"/>
                <a:sym typeface="TT Hoves"/>
              </a:rPr>
              <a:t>Conclusion</a:t>
            </a:r>
          </a:p>
        </p:txBody>
      </p:sp>
      <p:sp>
        <p:nvSpPr>
          <p:cNvPr name="TextBox 5" id="5"/>
          <p:cNvSpPr txBox="true"/>
          <p:nvPr/>
        </p:nvSpPr>
        <p:spPr>
          <a:xfrm rot="0">
            <a:off x="1028700" y="2056038"/>
            <a:ext cx="9579304" cy="6514678"/>
          </a:xfrm>
          <a:prstGeom prst="rect">
            <a:avLst/>
          </a:prstGeom>
        </p:spPr>
        <p:txBody>
          <a:bodyPr anchor="t" rtlCol="false" tIns="0" lIns="0" bIns="0" rIns="0">
            <a:spAutoFit/>
          </a:bodyPr>
          <a:lstStyle/>
          <a:p>
            <a:pPr algn="l">
              <a:lnSpc>
                <a:spcPts val="3698"/>
              </a:lnSpc>
            </a:pPr>
            <a:r>
              <a:rPr lang="en-US" sz="2641">
                <a:solidFill>
                  <a:srgbClr val="FFFFFF"/>
                </a:solidFill>
                <a:latin typeface="TT Hoves"/>
                <a:ea typeface="TT Hoves"/>
                <a:cs typeface="TT Hoves"/>
                <a:sym typeface="TT Hoves"/>
              </a:rPr>
              <a:t>BullSight AI is an AI-powered stock market prediction system designed to analyze historical stock market data and forecast future stock prices using Machine Learning techniques. By combining data preprocessing, feature engineering, and predictive models, the system aims to provide accurate forecasts and assist investors in making informed investment decisions.</a:t>
            </a:r>
          </a:p>
          <a:p>
            <a:pPr algn="l">
              <a:lnSpc>
                <a:spcPts val="3698"/>
              </a:lnSpc>
            </a:pPr>
          </a:p>
          <a:p>
            <a:pPr algn="l">
              <a:lnSpc>
                <a:spcPts val="3698"/>
              </a:lnSpc>
            </a:pPr>
            <a:r>
              <a:rPr lang="en-US" sz="2641">
                <a:solidFill>
                  <a:srgbClr val="FFFFFF"/>
                </a:solidFill>
                <a:latin typeface="TT Hoves"/>
                <a:ea typeface="TT Hoves"/>
                <a:cs typeface="TT Hoves"/>
                <a:sym typeface="TT Hoves"/>
              </a:rPr>
              <a:t>The project focuses on improving prediction accuracy, reducing manual analysis, and presenting meaningful insights through an interactive dashboard. With future enhancements such as real-time data integration and sentiment analysis, BullSight AI has the potential to become a powerful decision-support tool for investors.</a:t>
            </a:r>
          </a:p>
          <a:p>
            <a:pPr algn="l">
              <a:lnSpc>
                <a:spcPts val="3698"/>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true">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name="TextBox 5" id="5"/>
            <p:cNvSpPr txBox="true"/>
            <p:nvPr/>
          </p:nvSpPr>
          <p:spPr>
            <a:xfrm>
              <a:off x="0" y="-47625"/>
              <a:ext cx="4274726" cy="2215092"/>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465129" y="4162822"/>
            <a:ext cx="9357743" cy="1751806"/>
          </a:xfrm>
          <a:prstGeom prst="rect">
            <a:avLst/>
          </a:prstGeom>
        </p:spPr>
        <p:txBody>
          <a:bodyPr anchor="t" rtlCol="false" tIns="0" lIns="0" bIns="0" rIns="0">
            <a:spAutoFit/>
          </a:bodyPr>
          <a:lstStyle/>
          <a:p>
            <a:pPr algn="ctr">
              <a:lnSpc>
                <a:spcPts val="14218"/>
              </a:lnSpc>
            </a:pPr>
            <a:r>
              <a:rPr lang="en-US" sz="10156">
                <a:solidFill>
                  <a:srgbClr val="FFFFFF"/>
                </a:solidFill>
                <a:latin typeface="Lilita One"/>
                <a:ea typeface="Lilita One"/>
                <a:cs typeface="Lilita One"/>
                <a:sym typeface="Lilita One"/>
              </a:rPr>
              <a:t>Thank You</a:t>
            </a:r>
          </a:p>
        </p:txBody>
      </p:sp>
      <p:sp>
        <p:nvSpPr>
          <p:cNvPr name="AutoShape 7" id="7"/>
          <p:cNvSpPr/>
          <p:nvPr/>
        </p:nvSpPr>
        <p:spPr>
          <a:xfrm>
            <a:off x="2261281" y="7781528"/>
            <a:ext cx="13765437" cy="0"/>
          </a:xfrm>
          <a:prstGeom prst="line">
            <a:avLst/>
          </a:prstGeom>
          <a:ln cap="flat" w="19050">
            <a:solidFill>
              <a:srgbClr val="FFFFFF"/>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DAHRcLoHTHI</dc:identifier>
  <dcterms:modified xsi:type="dcterms:W3CDTF">2011-08-01T06:04:30Z</dcterms:modified>
  <cp:revision>1</cp:revision>
  <dc:title>Bull Sight</dc:title>
</cp:coreProperties>
</file>